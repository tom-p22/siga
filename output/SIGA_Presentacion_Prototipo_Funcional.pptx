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ef54ce731b4393" /><Relationship Type="http://schemas.openxmlformats.org/officeDocument/2006/relationships/extended-properties" Target="/docProps/app.xml" Id="R177c90d8cc1545d4" /><Relationship Type="http://schemas.openxmlformats.org/officeDocument/2006/relationships/officeDocument" Target="/ppt/presentation.xml" Id="R0f038e0be01f45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8f9c955c6e48f8"/>
  </p:sldMasterIdLst>
  <p:notesMasterIdLst>
    <p:notesMasterId xmlns:r="http://schemas.openxmlformats.org/officeDocument/2006/relationships" r:id="Ra1dd7d5c164b4834"/>
  </p:notesMasterIdLst>
  <p:sldIdLst>
    <p:sldId xmlns:r="http://schemas.openxmlformats.org/officeDocument/2006/relationships" id="256" r:id="R6883de1d0dc84bfe"/>
    <p:sldId xmlns:r="http://schemas.openxmlformats.org/officeDocument/2006/relationships" id="257" r:id="R7125ff6aeed545fd"/>
    <p:sldId xmlns:r="http://schemas.openxmlformats.org/officeDocument/2006/relationships" id="258" r:id="R99cae2ec56c24dea"/>
    <p:sldId xmlns:r="http://schemas.openxmlformats.org/officeDocument/2006/relationships" id="259" r:id="Rb9d9b216266b465c"/>
    <p:sldId xmlns:r="http://schemas.openxmlformats.org/officeDocument/2006/relationships" id="260" r:id="R9004e20facf94794"/>
    <p:sldId xmlns:r="http://schemas.openxmlformats.org/officeDocument/2006/relationships" id="261" r:id="Rfe2342a3189b49ad"/>
    <p:sldId xmlns:r="http://schemas.openxmlformats.org/officeDocument/2006/relationships" id="262" r:id="Re2214177c9f84c2b"/>
    <p:sldId xmlns:r="http://schemas.openxmlformats.org/officeDocument/2006/relationships" id="263" r:id="R3f82b66b7e0c472c"/>
    <p:sldId xmlns:r="http://schemas.openxmlformats.org/officeDocument/2006/relationships" id="264" r:id="R6dca5974922d48e8"/>
    <p:sldId xmlns:r="http://schemas.openxmlformats.org/officeDocument/2006/relationships" id="265" r:id="Rac7711483e70437b"/>
    <p:sldId xmlns:r="http://schemas.openxmlformats.org/officeDocument/2006/relationships" id="266" r:id="R40d515824a6547ca"/>
    <p:sldId xmlns:r="http://schemas.openxmlformats.org/officeDocument/2006/relationships" id="267" r:id="Ref99a562ef864d1f"/>
    <p:sldId xmlns:r="http://schemas.openxmlformats.org/officeDocument/2006/relationships" id="268" r:id="R0f747fe639e5439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50be447c6c4dc1" /><Relationship Type="http://schemas.openxmlformats.org/officeDocument/2006/relationships/slideMaster" Target="/ppt/slideMasters/slideMaster1.xml" Id="R698f9c955c6e48f8" /><Relationship Type="http://schemas.openxmlformats.org/officeDocument/2006/relationships/notesMaster" Target="/ppt/notesMasters/notesMaster1.xml" Id="Ra1dd7d5c164b4834" /><Relationship Type="http://schemas.openxmlformats.org/officeDocument/2006/relationships/presProps" Target="/ppt/presProps.xml" Id="R7e5f431809474586" /><Relationship Type="http://schemas.openxmlformats.org/officeDocument/2006/relationships/tableStyles" Target="/ppt/tableStyles.xml" Id="Rd361ef04b8ed4bf7" /><Relationship Type="http://schemas.openxmlformats.org/officeDocument/2006/relationships/slide" Target="/ppt/slides/slide1.xml" Id="R6883de1d0dc84bfe" /><Relationship Type="http://schemas.openxmlformats.org/officeDocument/2006/relationships/slide" Target="/ppt/slides/slide2.xml" Id="R7125ff6aeed545fd" /><Relationship Type="http://schemas.openxmlformats.org/officeDocument/2006/relationships/slide" Target="/ppt/slides/slide3.xml" Id="R99cae2ec56c24dea" /><Relationship Type="http://schemas.openxmlformats.org/officeDocument/2006/relationships/slide" Target="/ppt/slides/slide4.xml" Id="Rb9d9b216266b465c" /><Relationship Type="http://schemas.openxmlformats.org/officeDocument/2006/relationships/slide" Target="/ppt/slides/slide5.xml" Id="R9004e20facf94794" /><Relationship Type="http://schemas.openxmlformats.org/officeDocument/2006/relationships/slide" Target="/ppt/slides/slide6.xml" Id="Rfe2342a3189b49ad" /><Relationship Type="http://schemas.openxmlformats.org/officeDocument/2006/relationships/slide" Target="/ppt/slides/slide7.xml" Id="Re2214177c9f84c2b" /><Relationship Type="http://schemas.openxmlformats.org/officeDocument/2006/relationships/slide" Target="/ppt/slides/slide8.xml" Id="R3f82b66b7e0c472c" /><Relationship Type="http://schemas.openxmlformats.org/officeDocument/2006/relationships/slide" Target="/ppt/slides/slide9.xml" Id="R6dca5974922d48e8" /><Relationship Type="http://schemas.openxmlformats.org/officeDocument/2006/relationships/slide" Target="/ppt/slides/slide10.xml" Id="Rac7711483e70437b" /><Relationship Type="http://schemas.openxmlformats.org/officeDocument/2006/relationships/slide" Target="/ppt/slides/slide11.xml" Id="R40d515824a6547ca" /><Relationship Type="http://schemas.openxmlformats.org/officeDocument/2006/relationships/slide" Target="/ppt/slides/slide12.xml" Id="Ref99a562ef864d1f" /><Relationship Type="http://schemas.openxmlformats.org/officeDocument/2006/relationships/slide" Target="/ppt/slides/slide13.xml" Id="R0f747fe639e543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baa8476db742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4911ab2f6441e6" /><Relationship Type="http://schemas.openxmlformats.org/officeDocument/2006/relationships/notesMaster" Target="/ppt/notesMasters/notesMaster1.xml" Id="R2834aa0c69454a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08d6772fd24b58" /><Relationship Type="http://schemas.openxmlformats.org/officeDocument/2006/relationships/notesMaster" Target="/ppt/notesMasters/notesMaster1.xml" Id="R95c54bcd302b4f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6d06cf6e3c4f96" /><Relationship Type="http://schemas.openxmlformats.org/officeDocument/2006/relationships/notesMaster" Target="/ppt/notesMasters/notesMaster1.xml" Id="R622a43a686c549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17453aa2c44fed" /><Relationship Type="http://schemas.openxmlformats.org/officeDocument/2006/relationships/notesMaster" Target="/ppt/notesMasters/notesMaster1.xml" Id="R919b213100b04f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a3d00c50ba43c5" /><Relationship Type="http://schemas.openxmlformats.org/officeDocument/2006/relationships/notesMaster" Target="/ppt/notesMasters/notesMaster1.xml" Id="R2be23a8f534b45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645ae7bc6c4bd2" /><Relationship Type="http://schemas.openxmlformats.org/officeDocument/2006/relationships/notesMaster" Target="/ppt/notesMasters/notesMaster1.xml" Id="R24a3d14ae0854b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94711140974741" /><Relationship Type="http://schemas.openxmlformats.org/officeDocument/2006/relationships/notesMaster" Target="/ppt/notesMasters/notesMaster1.xml" Id="R6c6da72a913044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1ea1ea33f9419a" /><Relationship Type="http://schemas.openxmlformats.org/officeDocument/2006/relationships/notesMaster" Target="/ppt/notesMasters/notesMaster1.xml" Id="R48b368fc70d642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9ad712d7bb4855" /><Relationship Type="http://schemas.openxmlformats.org/officeDocument/2006/relationships/notesMaster" Target="/ppt/notesMasters/notesMaster1.xml" Id="Rb417063dcc5c4b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38d9e8d97148ff" /><Relationship Type="http://schemas.openxmlformats.org/officeDocument/2006/relationships/notesMaster" Target="/ppt/notesMasters/notesMaster1.xml" Id="Rb09117d142cf44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c9149de669486c" /><Relationship Type="http://schemas.openxmlformats.org/officeDocument/2006/relationships/notesMaster" Target="/ppt/notesMasters/notesMaster1.xml" Id="R2b75140be16d47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e15866e97d443e" /><Relationship Type="http://schemas.openxmlformats.org/officeDocument/2006/relationships/notesMaster" Target="/ppt/notesMasters/notesMaster1.xml" Id="R03f51a38e91d4d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98024b6a7b4708" /><Relationship Type="http://schemas.openxmlformats.org/officeDocument/2006/relationships/notesMaster" Target="/ppt/notesMasters/notesMaster1.xml" Id="R7618b5f531d84a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bc06efd9be41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bc828dcb0b4df8" /><Relationship Type="http://schemas.openxmlformats.org/officeDocument/2006/relationships/slideLayout" Target="/ppt/slideLayouts/slideLayout1.xml" Id="R60ae6fd21a6349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ae6fd21a6349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b1469d726432e" /><Relationship Type="http://schemas.openxmlformats.org/officeDocument/2006/relationships/notesSlide" Target="/ppt/notesSlides/notesSlide1.xml" Id="R2a9aa61767d64e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0378089eb42c7" /><Relationship Type="http://schemas.openxmlformats.org/officeDocument/2006/relationships/notesSlide" Target="/ppt/notesSlides/notesSlide2.xml" Id="Refd8cc0d00964e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2a757b12140e3" /><Relationship Type="http://schemas.openxmlformats.org/officeDocument/2006/relationships/notesSlide" Target="/ppt/notesSlides/notesSlide3.xml" Id="R799c38d534d646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d4eb3d22540e5" /><Relationship Type="http://schemas.openxmlformats.org/officeDocument/2006/relationships/notesSlide" Target="/ppt/notesSlides/notesSlide4.xml" Id="Re4526422ed5942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cc60b66a74a47" /><Relationship Type="http://schemas.openxmlformats.org/officeDocument/2006/relationships/image" Target="/ppt/media/image.jpeg" Id="R2f87118c9d584856" /><Relationship Type="http://schemas.openxmlformats.org/officeDocument/2006/relationships/notesSlide" Target="/ppt/notesSlides/notesSlide5.xml" Id="R6f20ce7c057241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5ff1e3a814939" /><Relationship Type="http://schemas.openxmlformats.org/officeDocument/2006/relationships/image" Target="/ppt/media/image2.jpeg" Id="Rf1906199e0a246a5" /><Relationship Type="http://schemas.openxmlformats.org/officeDocument/2006/relationships/notesSlide" Target="/ppt/notesSlides/notesSlide6.xml" Id="Refb25c7539ff44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f31914a9740b1" /><Relationship Type="http://schemas.openxmlformats.org/officeDocument/2006/relationships/image" Target="/ppt/media/image3.jpeg" Id="Rac62d703b2974b14" /><Relationship Type="http://schemas.openxmlformats.org/officeDocument/2006/relationships/notesSlide" Target="/ppt/notesSlides/notesSlide7.xml" Id="R61adb54adfe449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a803e40474570" /><Relationship Type="http://schemas.openxmlformats.org/officeDocument/2006/relationships/image" Target="/ppt/media/image4.jpeg" Id="R85fbba88219e40e5" /><Relationship Type="http://schemas.openxmlformats.org/officeDocument/2006/relationships/notesSlide" Target="/ppt/notesSlides/notesSlide8.xml" Id="Re6d0a8675d564c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0840d28204197" /><Relationship Type="http://schemas.openxmlformats.org/officeDocument/2006/relationships/notesSlide" Target="/ppt/notesSlides/notesSlide9.xml" Id="Rb3a8cc35e5fd49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a515123bd4d3e" /><Relationship Type="http://schemas.openxmlformats.org/officeDocument/2006/relationships/notesSlide" Target="/ppt/notesSlides/notesSlide10.xml" Id="R157357d5f9cd48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e1e468e014c75" /><Relationship Type="http://schemas.openxmlformats.org/officeDocument/2006/relationships/image" Target="/ppt/media/image5.jpeg" Id="R7240c434d3514741" /><Relationship Type="http://schemas.openxmlformats.org/officeDocument/2006/relationships/notesSlide" Target="/ppt/notesSlides/notesSlide11.xml" Id="Rb27cd9a4ea064f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dec52ddd74e40" /><Relationship Type="http://schemas.openxmlformats.org/officeDocument/2006/relationships/notesSlide" Target="/ppt/notesSlides/notesSlide12.xml" Id="Rf19d5b16ca3748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b0827bfa44198" /><Relationship Type="http://schemas.openxmlformats.org/officeDocument/2006/relationships/notesSlide" Target="/ppt/notesSlides/notesSlide13.xml" Id="R727932e941a947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AE5BC3-F4EF-4DD2-80C3-EC039331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SIGA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76686-7A60-43F2-BCD4-EBD8CF25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Prototipo funcional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y mejora continua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7E709-41F8-40F6-9863-6322F9F0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CEBFF"/>
                </a:solidFill>
              </a:defRPr>
            </a:pPr>
            <a:r>
              <a:rPr sz="1650" b="0">
                <a:solidFill>
                  <a:srgbClr val="DCEBFF"/>
                </a:solidFill>
              </a:rPr>
              <a:t>Evaluación Parcial N.º 3 · Ingeniería de Software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FFF48-9E2C-41EF-8A40-B9BA27D4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7E8"/>
                </a:solidFill>
              </a:defRPr>
            </a:pPr>
            <a:r>
              <a:rPr sz="1350" b="0">
                <a:solidFill>
                  <a:srgbClr val="AFC7E8"/>
                </a:solidFill>
              </a:rPr>
              <a:t>Del MVP a una solución navegable en seis iteraciones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30A55-018B-4012-A3A5-CEDA645A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04875"/>
            <a:ext cx="3048000" cy="4667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B2B58"/>
          </a:solidFill>
          <a:ln xmlns:a="http://schemas.openxmlformats.org/drawingml/2006/main" w="9525">
            <a:solidFill>
              <a:srgbClr val="234C7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56181-E4BE-4908-A568-690D0F29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3350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22D3EE"/>
                </a:solidFill>
              </a:defRPr>
            </a:pPr>
            <a:r>
              <a:rPr sz="7200" b="1">
                <a:solidFill>
                  <a:srgbClr val="22D3EE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41FD5-B044-4FA0-AC1A-3FDAEA71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241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ITERACIONES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4BF56-1BAA-4A4E-ACE1-A9C81041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86125"/>
            <a:ext cx="228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CEBFF"/>
                </a:solidFill>
              </a:defRPr>
            </a:pPr>
            <a:r>
              <a:rPr sz="1500" b="0">
                <a:solidFill>
                  <a:srgbClr val="DCEBFF"/>
                </a:solidFill>
              </a:rPr>
              <a:t>18 casos de prueba</a:t>
            </a:r>
          </a:p>
          <a:p xmlns:a="http://schemas.openxmlformats.org/drawingml/2006/main">
            <a:pPr algn="ctr">
              <a:defRPr sz="1500" b="0">
                <a:solidFill>
                  <a:srgbClr val="DCEBFF"/>
                </a:solidFill>
              </a:defRPr>
            </a:pPr>
            <a:r>
              <a:rPr sz="1500" b="0">
                <a:solidFill>
                  <a:srgbClr val="DCEBFF"/>
                </a:solidFill>
              </a:rPr>
              <a:t>10 requisitos funcionales</a:t>
            </a:r>
          </a:p>
          <a:p xmlns:a="http://schemas.openxmlformats.org/drawingml/2006/main">
            <a:pPr algn="ctr">
              <a:defRPr sz="1500" b="0">
                <a:solidFill>
                  <a:srgbClr val="DCEBFF"/>
                </a:solidFill>
              </a:defRPr>
            </a:pPr>
            <a:r>
              <a:rPr sz="1500" b="0">
                <a:solidFill>
                  <a:srgbClr val="DCEBFF"/>
                </a:solidFill>
              </a:rPr>
              <a:t>10 requisitos no funcionales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315D0-AD5C-4DC9-92BF-6AA3FA6F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7E8"/>
                </a:solidFill>
              </a:defRPr>
            </a:pPr>
            <a:r>
              <a:rPr sz="1125" b="0">
                <a:solidFill>
                  <a:srgbClr val="AFC7E8"/>
                </a:solidFill>
              </a:rPr>
              <a:t>Equipo SIGA · 2026</a:t>
            </a:r>
          </a:p>
        </p:txBody>
      </p:sp>
    </p:spTree>
    <p:extLst>
      <p:ext uri="{BB962C8B-B14F-4D97-AF65-F5344CB8AC3E}">
        <p14:creationId xmlns:p14="http://schemas.microsoft.com/office/powerpoint/2010/main" val="13770923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DD6DE0-A63C-4DAD-8F15-C20CE7CD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5EABA-E5AB-4280-B843-4253ED2A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Problema y objetivo de la solución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287BF-D042-43EF-A36F-596B95BA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9762C-225B-48F3-B7BA-65F08AEB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F8C6F-05D1-4C05-B811-4F8D2FD4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9530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44D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399B2-505B-4BBC-BCDA-3BF62EB7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Situación inicial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2AFDD-D4DD-4ED9-8D5A-A5294E5F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0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CEABC-F5CF-4F7F-AE70-239E78ED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24125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Procesos manuales y duplicación de datos.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78513-86EA-4798-821B-78368577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93D4B-80D7-4879-9D8C-A652D2B4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Largos tiempos de espera en pasos terrestres.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383E0-C268-4BE0-A199-E40124DE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38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F3ABA-48CD-422F-8C5A-2AA47D3A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62375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Sistemas separados entre Aduanas, PDI y SAG.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F4A37-EB96-4279-9645-8B4257F7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7BDBC-1DAC-476B-8D85-FFF62714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Baja trazabilidad de decisiones y rechazos.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C7296-57F5-4805-A794-28AD6A23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95450"/>
            <a:ext cx="561975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EC9650-5228-4797-B097-7087DF57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3A8A"/>
                </a:solidFill>
              </a:defRPr>
            </a:pPr>
            <a:r>
              <a:rPr sz="1875" b="1">
                <a:solidFill>
                  <a:srgbClr val="1E3A8A"/>
                </a:solidFill>
              </a:rPr>
              <a:t>Objetivo SIGA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89BC1-96B6-4C70-A7AE-051B6301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Unificar y automatizar el control fronterizo mediante una experiencia clara, trazable y preparada para integrar organismos externos.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A33AD4-4A45-478F-B9EE-4192A63B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3A8A"/>
                </a:solidFill>
              </a:defRPr>
            </a:pPr>
            <a:r>
              <a:rPr sz="1350" b="1">
                <a:solidFill>
                  <a:srgbClr val="1E3A8A"/>
                </a:solidFill>
              </a:rPr>
              <a:t>Resultado esperado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7C1B7-766C-4DAA-8889-4085D293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3A8A"/>
                </a:solidFill>
              </a:defRPr>
            </a:pPr>
            <a:r>
              <a:rPr sz="2025" b="1">
                <a:solidFill>
                  <a:srgbClr val="1E3A8A"/>
                </a:solidFill>
              </a:rPr>
              <a:t>Menos espera · menos errores · mejor fiscalización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201E9D-0EBA-4F31-A1F8-7B2EB7FB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911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El prototipo simula las integraciones sin utilizar datos reales ni backend.</a:t>
            </a:r>
          </a:p>
        </p:txBody>
      </p:sp>
    </p:spTree>
    <p:extLst>
      <p:ext uri="{BB962C8B-B14F-4D97-AF65-F5344CB8AC3E}">
        <p14:creationId xmlns:p14="http://schemas.microsoft.com/office/powerpoint/2010/main" val="817587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108B47-02E1-4B49-83F3-85EB1019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FE167-DAD6-4836-A05B-C11C86A7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Alcance funcional y actores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BA350-3A98-4B7B-877F-80F9F54F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984AD-5510-4049-870E-E90EE967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9FA2A-D97B-4C7B-B574-508105A7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283AC-17BA-469A-8169-7F64FAE7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Aduanas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6FB69-E234-45E2-8B99-B2D03DEE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Vehículos, permisos y plazos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C801E-5FBF-48F1-849E-2187AE22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16F98-5AE2-4D18-951B-6D6FB720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193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PDI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20980-6060-4272-AFBA-56ED9B1A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2887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Identidad y autorización de menores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D93C4-D0ED-41A1-B205-FAB1E0CD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4E79B-420A-4512-8DBB-3359F0E5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SAG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00BB4-4D12-4009-BEB0-E23439F0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Declaraciones e inspecciones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D17BC-D16F-42A3-9AA0-58FD248E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73E7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EE4AA-DE6C-4931-88BF-45B87B94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193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Administrador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AE50F-0A49-4D37-B10E-962E6E0B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2887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Auditoría, usuarios y reportes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DEFFDC-ECA0-4172-BA9F-F58F1817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Procesos cubiertos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DBEEF1-9AB1-4AA4-8356-BDBC3874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3851E0-7677-4BC0-AED3-FE0FEA0E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910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Login y roles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D5C1CF-602F-42BC-BDCF-54A8AD36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4812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42AAE7-D6D6-47AB-BAF9-C60F2EF3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1910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QR y LPR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2DCB02-550A-4280-9125-42DC34BB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4812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228A9C-D483-4B13-A820-46D8B3A1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910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Reglas 180/90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B24A9A-8C3D-4930-8882-0172CF04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4812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381EFD-26DE-409F-AACB-4D95F306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1910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Impresión dual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7113F3-89BD-43D7-9941-04A11EFE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BA6A64-4796-4F3A-B623-46D2E0E4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339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Declaración SAG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ECDB48-4AA5-4832-A5C1-4CF22859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9107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344E16-669A-4F6D-B178-8963E324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9339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Tótem de pasajeros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FF3CC6-F988-4219-8E8E-9E792BE1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9107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1E8409-68E8-4425-B2F6-4F0F3A49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9339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Auditoría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6D27B0-4010-4DE4-A73D-8A31E6CC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9107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6E7BE9-C3FB-4A04-83BD-8664DE38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9339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CSV y PDF</a:t>
            </a:r>
          </a:p>
        </p:txBody>
      </p:sp>
    </p:spTree>
    <p:extLst>
      <p:ext uri="{BB962C8B-B14F-4D97-AF65-F5344CB8AC3E}">
        <p14:creationId xmlns:p14="http://schemas.microsoft.com/office/powerpoint/2010/main" val="19669105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CBFFE1-8CE8-4903-AD8F-8414D10F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42F16-A680-47BC-A1F2-974D0B5D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Seis iteraciones desde el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890C6-08AE-4078-A784-202CC6D7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8CC4F-9D95-4E3F-B23A-294D43E9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BC939-2AE9-48B2-AC86-33D155DF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14675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68A"/>
          </a:solidFill>
          <a:ln xmlns:a="http://schemas.openxmlformats.org/drawingml/2006/main" w="0">
            <a:solidFill>
              <a:srgbClr val="2856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591CF-C3E6-4E43-8494-B4ACEDFC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C0847-9EF8-4FD1-9408-2309474F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6C154-EC57-466E-BABA-12E4FE22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Acceso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DB299-9BEC-4907-889F-3F4F01D3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29344-5B6B-4247-A84E-F57C2AC2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7C511-53F3-4CD9-9CB5-84265D19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Login y panel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B0D6A-CA68-4DD5-9485-69CB7E72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F4014-999B-4744-8F7D-2D7F780C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DB7663-25A4-4220-B7EB-47AC7A95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Diseño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EC0F1-05F8-4714-A8D7-38FF51BB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B93B39-DE92-4289-8586-BE2F6764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F94DC-8AE2-4E34-AC39-521998F6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Tailwind y roles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6562D6-6871-4ED2-90FB-EDBE6CEC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EB90A9-9596-4696-B4F9-710EFDEC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AC8FEB-8D62-4818-B4E6-516A71A8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Aduana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5A4521-3CAC-42B9-A1E5-EF529885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E35A97-D3AE-4AE7-A26A-353447CE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DC4C6B-9F56-4294-8F6F-6265C533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QR, LPR, 180/90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B2A35E-0F13-42EB-B7BA-73E57AE1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11E987-CDBF-4A3F-B7E8-C898874C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247FE9-8209-4DD1-9295-15F3B57F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SAG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CBF16D-ADF5-4E9A-B210-6AD48FDA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50243B-E75F-4E4E-9149-B355CABE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3A64A4-52C5-4267-BA07-869EA7DC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DJ y autoatención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39DFDF-58C4-4874-B9F3-E5C047A5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A1CA07-3449-4DD3-B7AD-48C90FBA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56EFB5-B0D2-46BB-B03D-222F0ABD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DF6476-D759-4762-901F-2D7E87B8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38E277-2D1A-437F-8E37-3B30A029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C7669D-4756-4D2F-80A6-89B106E8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Auditoría y CSV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6478A3-7232-4A6F-B7AE-F9314130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832A1C-CB1E-4AF3-805B-7EC92863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v1.0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C0CBD0-D5F5-4293-A699-E3B4E07E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Calidad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3E2FD3-3C5A-4906-8346-1732BFEE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61FC83-5CF0-4593-AE50-60D708D8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266D91-E893-406E-8AA3-4711742D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Pruebas y cierre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D4E6AF-A0A4-40A1-8C58-945932F7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482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Cada etapa agrega valor verificable y deja evidencia en el control de cambios.</a:t>
            </a:r>
          </a:p>
        </p:txBody>
      </p:sp>
    </p:spTree>
    <p:extLst>
      <p:ext uri="{BB962C8B-B14F-4D97-AF65-F5344CB8AC3E}">
        <p14:creationId xmlns:p14="http://schemas.microsoft.com/office/powerpoint/2010/main" val="4485838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C55B7E-21A4-47DB-AB97-F095DAC2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B45A1-CC69-4B85-9E95-6F56451B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Resultado: panel operativo integrado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1EBEE-2826-4DC7-9868-D4A77809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F380B-0E70-47AC-9711-64D41E8F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C6544-3732-4975-B7C3-C1E4C2C1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90675"/>
            <a:ext cx="7467600" cy="44196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7118c9d584856"/>
          <a:srcRect xmlns:a="http://schemas.openxmlformats.org/drawingml/2006/main" l="1875" t="0" r="1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733425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D9647-5A5D-4B6D-987F-22F8D950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Visión unificada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941B3-A39F-4459-967D-735F394D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B2E27-2B7A-4532-8122-B2501EAA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Indicadores por módulo.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A7724-C603-4742-A300-3E11F875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7D0E3-F1C2-47E0-B8BD-F7BD131E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0375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Actividad reciente y estados.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0F194-3706-4B71-8C12-9173FBC0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AD0A3-1F80-4CE8-BF9C-B48E5621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1950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Navegación según el rol.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FEE15-59B6-4BA5-849C-A8AA6401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14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78EB21-CDB2-4D5A-B63F-C81FCA08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38625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Persistencia entre sesiones.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AC7BF-376A-4CAA-A677-870C85FC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95875"/>
            <a:ext cx="2762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3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C126E5-DB5E-4DAC-B030-A3107D86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2197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Información accionable</a:t>
            </a:r>
          </a:p>
          <a:p xmlns:a="http://schemas.openxmlformats.org/drawingml/2006/main">
            <a:pPr algn="ctr"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en una sola pantalla</a:t>
            </a:r>
          </a:p>
        </p:txBody>
      </p:sp>
    </p:spTree>
    <p:extLst>
      <p:ext uri="{BB962C8B-B14F-4D97-AF65-F5344CB8AC3E}">
        <p14:creationId xmlns:p14="http://schemas.microsoft.com/office/powerpoint/2010/main" val="15412603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3FE738-EE57-433C-B52E-A4F7E96F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24E44-EDD8-4CBB-91FC-9D0C4313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Control vehicular: reglas y evidencia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2A401-63EA-4154-A19D-D2AED041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16D26-8734-414D-B687-7165FE28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DCDEA-9950-4867-80B0-334048B1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90675"/>
            <a:ext cx="7372350" cy="44196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06199e0a246a5"/>
          <a:srcRect xmlns:a="http://schemas.openxmlformats.org/drawingml/2006/main" l="2500" t="0" r="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723900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A5870-27F6-4C58-8133-59B00086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90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Automatización crítica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FAED2-6011-4AB8-B077-84B36CDE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30BA2-3E39-4F2D-974C-583B1B12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33625"/>
            <a:ext cx="269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Lectura QR simulada.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12278-03E7-490E-A06D-C9F3428A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62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CC9A2-7F64-4827-9507-5C9CD2E4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86075"/>
            <a:ext cx="269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Patente mediante LPR.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9C8A4-E38E-4366-AD06-DC6FF898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14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A4BE8-1C3B-4A55-8F59-57B89898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438525"/>
            <a:ext cx="269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180 días: particulares.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93A4F-9D9D-4076-BFFA-93CA7C64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67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C11A9-8183-4233-8394-96A27673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990975"/>
            <a:ext cx="269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90 días: diplomáticos.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46E8D-89E1-4B99-9AEF-9893C1AD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19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6EA9C0-4B74-4497-BA0C-7F0B800F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543425"/>
            <a:ext cx="269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Dos copias físicas obligatorias.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6664B-5ED1-41B3-92A6-2B145309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67325"/>
            <a:ext cx="2952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645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25F391-A547-420B-8EB9-37E095EE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102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2D3EE"/>
                </a:solidFill>
              </a:defRPr>
            </a:pPr>
            <a:r>
              <a:rPr sz="1275" b="1">
                <a:solidFill>
                  <a:srgbClr val="22D3EE"/>
                </a:solidFill>
              </a:rPr>
              <a:t>Cálculo automático del vencimiento</a:t>
            </a:r>
          </a:p>
        </p:txBody>
      </p:sp>
    </p:spTree>
    <p:extLst>
      <p:ext uri="{BB962C8B-B14F-4D97-AF65-F5344CB8AC3E}">
        <p14:creationId xmlns:p14="http://schemas.microsoft.com/office/powerpoint/2010/main" val="10916533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3F9551-CF71-4DF5-8DC4-17F85FEA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8271D-39E1-47B5-98CF-0267516D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Control SAG y autoatención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C422F-415A-4B92-BECB-D6995EB7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53C78-72DC-415F-963C-5B0EBE16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EE9DA-22E4-4BFC-8D36-0AB8844D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90675"/>
            <a:ext cx="6991350" cy="44196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62d703b2974b14"/>
          <a:srcRect xmlns:a="http://schemas.openxmlformats.org/drawingml/2006/main" l="5000" t="0" r="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685800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50DC5-4D95-4A51-A50F-9648D491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57350"/>
            <a:ext cx="3676650" cy="18669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0AE90-491F-44B1-9939-198C7B2C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D3EE"/>
                </a:solidFill>
              </a:defRPr>
            </a:pPr>
            <a:r>
              <a:rPr sz="1725" b="1">
                <a:solidFill>
                  <a:srgbClr val="22D3EE"/>
                </a:solidFill>
              </a:rPr>
              <a:t>Declaración SAG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8982D-AD98-4BD0-ADBA-C97174E9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BFF"/>
                </a:solidFill>
              </a:defRPr>
            </a:pPr>
            <a:r>
              <a:rPr sz="1350" b="0">
                <a:solidFill>
                  <a:srgbClr val="DCEBFF"/>
                </a:solidFill>
              </a:rPr>
              <a:t>Una declaración positiva marca el caso como observado y lo deriva a inspección física.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54FC6-31A9-458C-8AB8-79718096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52850"/>
            <a:ext cx="36766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E1D17-D2C4-41E2-B064-0FF86FF7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D3EE"/>
                </a:solidFill>
              </a:defRPr>
            </a:pPr>
            <a:r>
              <a:rPr sz="1725" b="1">
                <a:solidFill>
                  <a:srgbClr val="22D3EE"/>
                </a:solidFill>
              </a:rPr>
              <a:t>Tótem de pasajeros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1842C-D0D6-4C5E-BE1A-8E408AF0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52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3EDF0-61BE-451B-8404-E82C372B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767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Registro previo a ventanilla.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BA263-DF74-428B-B929-9C4B3FF5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48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A6323-6F04-434B-BCF4-45932586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720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Código de atención.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CAE40-E944-4054-A15B-B903D020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43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EA0FD0-22A6-4902-B965-529A045A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673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Menores: autorización obligatoria.</a:t>
            </a:r>
          </a:p>
        </p:txBody>
      </p:sp>
    </p:spTree>
    <p:extLst>
      <p:ext uri="{BB962C8B-B14F-4D97-AF65-F5344CB8AC3E}">
        <p14:creationId xmlns:p14="http://schemas.microsoft.com/office/powerpoint/2010/main" val="1663949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02F0CA-80DF-4ED6-83A8-2283690A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ECA68-28F8-4C61-B107-29D35A50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Trazabilidad, indicadores y exportación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95292-7B62-4170-84CA-35750AA0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D4B2B-277B-4243-BF44-549D33F6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8DFB0-D0D5-40D1-9182-88A14BF3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90675"/>
            <a:ext cx="7277100" cy="44196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bba88219e40e5"/>
          <a:srcRect xmlns:a="http://schemas.openxmlformats.org/drawingml/2006/main" l="3125" t="0" r="3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714375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4E57D-1DD2-47DF-B028-FE8B701E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Control de la operación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4EA4C-0EE7-4FF3-B32A-0B0C9E77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36D65-84B9-4538-8CCB-686F2324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Auditoría: usuario, fecha y acción.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BFCC8-C584-4CBE-BA94-3B685FAB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EC561-0E5D-44FF-B9D5-E75BF1E3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0375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Indicadores de aprobación.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75D66-3A7B-4FF4-A629-AB897C6C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15BE2-9C44-4523-A966-E40EF0AB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195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Exportación CSV.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66D14-F804-4048-AA91-80107E46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14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EA1923-D866-4474-A4A2-4F3DE216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38625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Impresión / guardado PDF.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4F083E-0189-4945-A508-1AA8155A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33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4C8731-A26D-4C11-89ED-D2D4B853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577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Acceso exclusivo del administrador.</a:t>
            </a:r>
          </a:p>
        </p:txBody>
      </p:sp>
    </p:spTree>
    <p:extLst>
      <p:ext uri="{BB962C8B-B14F-4D97-AF65-F5344CB8AC3E}">
        <p14:creationId xmlns:p14="http://schemas.microsoft.com/office/powerpoint/2010/main" val="5638532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BC6BBD-99AB-42AF-A608-C0E79935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81A21-53CA-4563-8562-9AD004D7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Modelo de calidad aplicado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4920F-DC5B-4F3C-A7AD-D0D1DFB7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79968-5670-4A59-A441-510A9273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C6DC6-B252-4DE7-A68B-FA734866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D3EE"/>
                </a:solidFill>
              </a:defRPr>
            </a:pPr>
            <a:r>
              <a:rPr sz="1725" b="1">
                <a:solidFill>
                  <a:srgbClr val="22D3EE"/>
                </a:solidFill>
              </a:rPr>
              <a:t>ISO 9126 / familia ISO 25000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3F574-B97A-4155-B258-A2FE7812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2493C-FE48-4DD8-98F2-6DB6761F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Funcionalidad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B8ACB-2C61-463E-818D-D6467FB9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526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Flujos críticos y reglas del negocio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9F033-EFBF-4D18-A8BF-FB618DE3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BB55F-C86C-494E-802C-1FE4A3C0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Usabilidad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688F3D-DA81-48F0-A2A4-C175D997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526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Responsive, mensajes y ayuda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9301B-A347-4A24-9A1B-6D234928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059EE-0142-4052-8A95-072E6165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Fiabilidad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9B1DC-9912-4E7F-9E35-756D359C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147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Persistencia y validaciones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BDC37-B776-4492-A869-96AABD57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5280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99F7F2-7504-43A9-AE19-29952941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24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Eficiencia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EEEEE-18DD-4334-9FEC-411A5FF5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147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Respuesta inmediata y build optimizado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AD26F8-4C58-4A28-898D-7A6217D0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58E86F-00D4-4B32-841B-2DA127A1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Mantenibilidad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53DA31-2351-41A4-A5BE-6E135B05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767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React, componentes y TypeScript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22FC77-EA8B-49B0-8FE3-BA10183A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1485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B8210D-C290-4281-ABBD-9095F953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86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Portabilidad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144E77-9154-44D1-A324-189E4352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767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Aplicación web multiplataforma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DA088F-1400-4CF7-A77F-98A0BCB6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5312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Calidad observable: cada atributo se vincula a una función o evidencia ejecutable.</a:t>
            </a:r>
          </a:p>
        </p:txBody>
      </p:sp>
    </p:spTree>
    <p:extLst>
      <p:ext uri="{BB962C8B-B14F-4D97-AF65-F5344CB8AC3E}">
        <p14:creationId xmlns:p14="http://schemas.microsoft.com/office/powerpoint/2010/main" val="17143077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2979B5-AA66-458E-BA9B-BE768597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39107-392B-45F7-BAA6-2C54A82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Plan de pruebas y resultados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0FB6C-ABBE-4C1E-A9B5-5AF65FD0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0568C-ED7A-4DCE-8DA1-FC025754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EF4AB-B869-48DE-A18F-1CE864D2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4574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4DD49-7AB1-4171-A251-5BCA8C2A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2D3EE"/>
                </a:solidFill>
              </a:defRPr>
            </a:pPr>
            <a:r>
              <a:rPr sz="4050" b="1">
                <a:solidFill>
                  <a:srgbClr val="22D3EE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47B8F-9CD4-4742-B605-A2BDF7E1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EBFF"/>
                </a:solidFill>
              </a:defRPr>
            </a:pPr>
            <a:r>
              <a:rPr sz="1275" b="1">
                <a:solidFill>
                  <a:srgbClr val="DCEBFF"/>
                </a:solidFill>
              </a:rPr>
              <a:t>casos planificados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01E78-5681-4663-B3D2-A385191B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14500"/>
            <a:ext cx="24574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2D2D9-1FFF-45BB-AC71-64450E36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5262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38BDF8"/>
                </a:solidFill>
              </a:defRPr>
            </a:pPr>
            <a:r>
              <a:rPr sz="4050" b="1">
                <a:solidFill>
                  <a:srgbClr val="38BDF8"/>
                </a:solidFill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FE1DB-9CB7-4694-95A3-E0873675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EBFF"/>
                </a:solidFill>
              </a:defRPr>
            </a:pPr>
            <a:r>
              <a:rPr sz="1275" b="1">
                <a:solidFill>
                  <a:srgbClr val="DCEBFF"/>
                </a:solidFill>
              </a:rPr>
              <a:t>casos ejecutados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CBC4A-F8BB-45A4-A848-61EF49CF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4574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9F03B-642B-4DD2-9032-1C85567B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34D399"/>
                </a:solidFill>
              </a:defRPr>
            </a:pPr>
            <a:r>
              <a:rPr sz="4050" b="1">
                <a:solidFill>
                  <a:srgbClr val="34D399"/>
                </a:solidFill>
              </a:rPr>
              <a:t>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2FC74-3C16-4780-B9AA-1D38E4CD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EBFF"/>
                </a:solidFill>
              </a:defRPr>
            </a:pPr>
            <a:r>
              <a:rPr sz="1275" b="1">
                <a:solidFill>
                  <a:srgbClr val="DCEBFF"/>
                </a:solidFill>
              </a:rPr>
              <a:t>casos aprobados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7E45C8-851B-4FA4-B07A-47F1FD73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14500"/>
            <a:ext cx="24574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DFD57-960F-48C9-8609-70B13473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5262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BBF24"/>
                </a:solidFill>
              </a:defRPr>
            </a:pPr>
            <a:r>
              <a:rPr sz="4050" b="1">
                <a:solidFill>
                  <a:srgbClr val="FBBF24"/>
                </a:solidFill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3EFBCA-0A48-482B-9C83-F3854FEB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EBFF"/>
                </a:solidFill>
              </a:defRPr>
            </a:pPr>
            <a:r>
              <a:rPr sz="1275" b="1">
                <a:solidFill>
                  <a:srgbClr val="DCEBFF"/>
                </a:solidFill>
              </a:rPr>
              <a:t>errores críticos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8992BB-5AB9-4CFD-8AA4-3968F560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Cobertura prioritaria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E67D87-88A0-4982-BDD6-6219405B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54DF3-C5F6-4461-BF94-F647017D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Acceso válido, inválido y control de roles.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B3085-D352-45DD-A0E5-A43E40CA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47C8F8-CAA8-467C-BF03-D88B3E30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QR, LPR, plazos e impresión dual.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2194C-424A-4DA9-969F-38555F30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5EC495-518A-4A90-BA41-07BF8A9F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Derivación SAG y autorización de menores.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6F6800-04B0-49AC-88E8-31633444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51054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352977-E0F8-4AA4-B766-890B1E08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481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3A8A"/>
                </a:solidFill>
              </a:defRPr>
            </a:pPr>
            <a:r>
              <a:rPr sz="1650" b="1">
                <a:solidFill>
                  <a:srgbClr val="1E3A8A"/>
                </a:solidFill>
              </a:rPr>
              <a:t>Verificación técnica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210514-EDC3-415B-83B2-B9A5B88A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7675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npm run build</a:t>
            </a:r>
          </a:p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npm run lint</a:t>
            </a:r>
          </a:p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Sin errores de consola</a:t>
            </a:r>
          </a:p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Sin overflow en 390 px</a:t>
            </a:r>
          </a:p>
        </p:txBody>
      </p:sp>
    </p:spTree>
    <p:extLst>
      <p:ext uri="{BB962C8B-B14F-4D97-AF65-F5344CB8AC3E}">
        <p14:creationId xmlns:p14="http://schemas.microsoft.com/office/powerpoint/2010/main" val="16562012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F660B2-F537-43A0-A7FE-8C1BAE5C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232F1-9805-4F44-874B-97E87DC9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Control de versiones y mejora continua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C6A54-504F-4559-81DA-5F7D5658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62E1E-CE1E-4C35-883E-1D22F004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EBEF4-4EB1-450D-A010-2D2F6869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90675"/>
            <a:ext cx="7372350" cy="44196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0c434d3514741"/>
          <a:srcRect xmlns:a="http://schemas.openxmlformats.org/drawingml/2006/main" l="2500" t="0" r="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723900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07B0F-9C1E-475E-A41C-30DD663F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Evidencia disponible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6E8F4-67D5-41B6-B873-464B7574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AD324-C360-4E49-9C3A-2B95B83A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Historial Git del proyecto.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CF50B-0869-4262-B74E-6F6521AD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23731-DA67-4383-84A7-24CB4BB2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0375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Seis versiones documentadas.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85918-74E6-4383-8814-55524B80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5F4A6-7C23-43F2-A897-E0A89257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195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Matriz requisito–prueba.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74189-F29E-4918-BD5F-8C148C1A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14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3F42E-B5F8-461F-83A6-71D31848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38625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Planilla de control de cambios.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4A223-CDA4-4797-A5E7-8E3A91C6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95875"/>
            <a:ext cx="2952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3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7D0505-2D05-43EC-881F-0490350E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197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Cada cambio responde</a:t>
            </a:r>
          </a:p>
          <a:p xmlns:a="http://schemas.openxmlformats.org/drawingml/2006/main">
            <a:pPr algn="ctr"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a un riesgo o requisito</a:t>
            </a:r>
          </a:p>
        </p:txBody>
      </p:sp>
    </p:spTree>
    <p:extLst>
      <p:ext uri="{BB962C8B-B14F-4D97-AF65-F5344CB8AC3E}">
        <p14:creationId xmlns:p14="http://schemas.microsoft.com/office/powerpoint/2010/main" val="13813185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23F7BE-9A5A-47E4-B0DE-666828F1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91236-6BD2-4B90-9504-1925BD0A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Recorrido recomendado para la demostración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7DB7A-F54F-43AB-A108-47C3B96E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68E89-AA64-47E3-A0BC-E1E0485B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8F4A1-AA67-47F3-ADAE-0BBF374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CAB4C-CCEB-4E26-A20F-9F7A3659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7960C-44D1-4B41-B409-5BDB5BFB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C820A-940E-4E9F-81C2-385BF558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574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Acceso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E483B-3C54-48C5-B39E-42AC0F62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574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Ingresar como funcionario.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296A9-B110-4553-ACDF-EC98E7AF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37973-9729-45B4-A0DC-F6E00C75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54D5F-E67D-45E5-830D-2B599E7E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62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745EF-746C-4BD9-8FA5-8DD11BB9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574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Aduana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68BAC-96A4-48B6-A9A4-189B7FF7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574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Simular QR/LPR y emitir permiso.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BA245-D4CA-4AD7-8C6A-488B15E0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EA4B0-3387-4A0D-AF5A-F7ED2F2F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4787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78A46C-66A8-4CFA-9470-E664F061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62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80794-B487-478F-9104-28B16BF4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574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SAG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29ACE-EE0F-4779-98F2-49B6E70E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Declarar alimentos y derivar.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73CC8-E99A-4D55-AC5B-56523C43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5A45D4-2072-41E2-AD7A-C6D4B4DE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959E72-8DDF-4D00-9E82-99FBF6F8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719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6552AA-5A74-4C1D-8A69-CA7A4BED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67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Tótem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B3F70F-2DA6-4753-9EFE-412A57D9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67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Registrar menor sin autorización.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2BBB5A-1AEA-4A17-BDBF-303557A9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6ADE43-2749-42C1-B2B1-351330BF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576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3FAEEC-07E0-4778-AC6E-8FD3C7E7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719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796DF4-AD5A-4891-80B9-5172978C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67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Reportes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66F4B9-D01F-45B9-85E0-E77AB2CC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67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Mostrar indicadores y CSV.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146C30-B8E8-4F5C-A840-83A96B74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1950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F87888-2335-47C2-A254-8F44C153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576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FEF80F-68D8-40CF-AD38-A465FED7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719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65AA19-44E8-4023-B8DC-DB7265A6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67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Admin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7F03CB-5BAF-4605-8AB6-7B7063C8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67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Revisar auditoría completa.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90587C-F72F-4F18-9931-7CD693E7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10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Duración sugerida: 6–8 minutos</a:t>
            </a:r>
          </a:p>
        </p:txBody>
      </p:sp>
    </p:spTree>
    <p:extLst>
      <p:ext uri="{BB962C8B-B14F-4D97-AF65-F5344CB8AC3E}">
        <p14:creationId xmlns:p14="http://schemas.microsoft.com/office/powerpoint/2010/main" val="9116736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3ACD58-F871-40B5-8BF1-04A988C1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Conclusión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3957B-AF0B-4B53-84D3-F1620D3F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42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CEBFF"/>
                </a:solidFill>
              </a:defRPr>
            </a:pPr>
            <a:r>
              <a:rPr sz="2250" b="1">
                <a:solidFill>
                  <a:srgbClr val="DCEBFF"/>
                </a:solidFill>
              </a:rPr>
              <a:t>SIGA evolucionó desde un acceso mínimo hasta un prototipo funcional, trazable y respaldado por pruebas.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78EC7-B416-4179-8100-9294078A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443B9-7DE2-472B-8CB2-F6030A64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664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Requisitos funcionales implementados o simulados.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FD784-3822-4BA8-9C00-88DDA4C2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5BF8A-15DF-42D3-8BE4-49056755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664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Reglas fronterizas críticas visibles y comprobables.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9B7C7-81EC-46B5-A195-7EAD2203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1A150-86C5-42AE-AC1C-07389DB7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664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Calidad vinculada a evidencias concretas.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6C72C-5ECA-4147-AC8D-BFF26DAB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DB1D0-A181-42A6-B331-C594C367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664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Seis iteraciones documentadas para mejora continua.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8E9D5-4A6B-41F5-BE55-F67D535C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33500"/>
            <a:ext cx="2762250" cy="37147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B2B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87B92-D4E4-4A8D-9529-849C3EA2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717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2D3EE"/>
                </a:solidFill>
              </a:defRPr>
            </a:pPr>
            <a:r>
              <a:rPr sz="2550" b="1">
                <a:solidFill>
                  <a:srgbClr val="22D3EE"/>
                </a:solidFill>
              </a:rPr>
              <a:t>LISTO PARA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67C50-6AEF-49FE-BA3E-0085A30C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2D3EE"/>
                </a:solidFill>
              </a:defRPr>
            </a:pPr>
            <a:r>
              <a:rPr sz="2100" b="1">
                <a:solidFill>
                  <a:srgbClr val="22D3EE"/>
                </a:solidFill>
              </a:rPr>
              <a:t>DEMOSTRACIÓN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77509-8652-458F-9FDC-2A3AFB7E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67125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Build ✓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Lint ✓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Pruebas ✓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Documentación 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F8014B-0D5E-49C1-9379-9737163D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FC7E8"/>
                </a:solidFill>
              </a:defRPr>
            </a:pPr>
            <a:r>
              <a:rPr sz="1725" b="0">
                <a:solidFill>
                  <a:srgbClr val="AFC7E8"/>
                </a:solidFill>
              </a:rPr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2121260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2026-06-25T18:28:56.3550000Z</dcterms:created>
  <dcterms:modified xsi:type="dcterms:W3CDTF">2026-06-25T18:28:56.3550000Z</dcterms:modified>
</coreProperties>
</file>