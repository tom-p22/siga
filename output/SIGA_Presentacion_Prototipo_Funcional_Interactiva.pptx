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d574d068e24427" /><Relationship Type="http://schemas.openxmlformats.org/officeDocument/2006/relationships/extended-properties" Target="/docProps/app.xml" Id="Raf07daef48d24b1e" /><Relationship Type="http://schemas.openxmlformats.org/officeDocument/2006/relationships/officeDocument" Target="/ppt/presentation.xml" Id="R6a828d966b2e4a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feddd289c94fc4"/>
  </p:sldMasterIdLst>
  <p:notesMasterIdLst>
    <p:notesMasterId xmlns:r="http://schemas.openxmlformats.org/officeDocument/2006/relationships" r:id="R1ff70043264f450b"/>
  </p:notesMasterIdLst>
  <p:sldIdLst>
    <p:sldId xmlns:r="http://schemas.openxmlformats.org/officeDocument/2006/relationships" id="256" r:id="R36493822f7004464"/>
    <p:sldId xmlns:r="http://schemas.openxmlformats.org/officeDocument/2006/relationships" id="257" r:id="Raca3040ce2ad4b6d"/>
    <p:sldId xmlns:r="http://schemas.openxmlformats.org/officeDocument/2006/relationships" id="258" r:id="R87d860c58fa64c81"/>
    <p:sldId xmlns:r="http://schemas.openxmlformats.org/officeDocument/2006/relationships" id="259" r:id="R4991dd7814eb49de"/>
    <p:sldId xmlns:r="http://schemas.openxmlformats.org/officeDocument/2006/relationships" id="260" r:id="R3adbbff4e8af449e"/>
    <p:sldId xmlns:r="http://schemas.openxmlformats.org/officeDocument/2006/relationships" id="261" r:id="R0f976e7a61e8457d"/>
    <p:sldId xmlns:r="http://schemas.openxmlformats.org/officeDocument/2006/relationships" id="262" r:id="Ra3dccb6f00de4fa1"/>
    <p:sldId xmlns:r="http://schemas.openxmlformats.org/officeDocument/2006/relationships" id="263" r:id="R1c08bfb5dd0240b1"/>
    <p:sldId xmlns:r="http://schemas.openxmlformats.org/officeDocument/2006/relationships" id="264" r:id="R0d9a0fd496214f6f"/>
    <p:sldId xmlns:r="http://schemas.openxmlformats.org/officeDocument/2006/relationships" id="265" r:id="Rb73fe705c8684c29"/>
    <p:sldId xmlns:r="http://schemas.openxmlformats.org/officeDocument/2006/relationships" id="266" r:id="R0a9e1451ee714f96"/>
    <p:sldId xmlns:r="http://schemas.openxmlformats.org/officeDocument/2006/relationships" id="267" r:id="R079218f65baa4723"/>
    <p:sldId xmlns:r="http://schemas.openxmlformats.org/officeDocument/2006/relationships" id="268" r:id="R6a3dbf10ea1548a9"/>
    <p:sldId xmlns:r="http://schemas.openxmlformats.org/officeDocument/2006/relationships" id="269" r:id="Rec3187e8170843bc"/>
    <p:sldId xmlns:r="http://schemas.openxmlformats.org/officeDocument/2006/relationships" id="270" r:id="R311fc60447c844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6d633e834f4ccb" /><Relationship Type="http://schemas.openxmlformats.org/officeDocument/2006/relationships/slideMaster" Target="/ppt/slideMasters/slideMaster1.xml" Id="R4ffeddd289c94fc4" /><Relationship Type="http://schemas.openxmlformats.org/officeDocument/2006/relationships/notesMaster" Target="/ppt/notesMasters/notesMaster1.xml" Id="R1ff70043264f450b" /><Relationship Type="http://schemas.openxmlformats.org/officeDocument/2006/relationships/presProps" Target="/ppt/presProps.xml" Id="R5023bcb7e29f4872" /><Relationship Type="http://schemas.openxmlformats.org/officeDocument/2006/relationships/tableStyles" Target="/ppt/tableStyles.xml" Id="Rd9ae529968d64765" /><Relationship Type="http://schemas.openxmlformats.org/officeDocument/2006/relationships/slide" Target="/ppt/slides/slide1.xml" Id="R36493822f7004464" /><Relationship Type="http://schemas.openxmlformats.org/officeDocument/2006/relationships/slide" Target="/ppt/slides/slide2.xml" Id="Raca3040ce2ad4b6d" /><Relationship Type="http://schemas.openxmlformats.org/officeDocument/2006/relationships/slide" Target="/ppt/slides/slide3.xml" Id="R87d860c58fa64c81" /><Relationship Type="http://schemas.openxmlformats.org/officeDocument/2006/relationships/slide" Target="/ppt/slides/slide4.xml" Id="R4991dd7814eb49de" /><Relationship Type="http://schemas.openxmlformats.org/officeDocument/2006/relationships/slide" Target="/ppt/slides/slide5.xml" Id="R3adbbff4e8af449e" /><Relationship Type="http://schemas.openxmlformats.org/officeDocument/2006/relationships/slide" Target="/ppt/slides/slide6.xml" Id="R0f976e7a61e8457d" /><Relationship Type="http://schemas.openxmlformats.org/officeDocument/2006/relationships/slide" Target="/ppt/slides/slide7.xml" Id="Ra3dccb6f00de4fa1" /><Relationship Type="http://schemas.openxmlformats.org/officeDocument/2006/relationships/slide" Target="/ppt/slides/slide8.xml" Id="R1c08bfb5dd0240b1" /><Relationship Type="http://schemas.openxmlformats.org/officeDocument/2006/relationships/slide" Target="/ppt/slides/slide9.xml" Id="R0d9a0fd496214f6f" /><Relationship Type="http://schemas.openxmlformats.org/officeDocument/2006/relationships/slide" Target="/ppt/slides/slide10.xml" Id="Rb73fe705c8684c29" /><Relationship Type="http://schemas.openxmlformats.org/officeDocument/2006/relationships/slide" Target="/ppt/slides/slide11.xml" Id="R0a9e1451ee714f96" /><Relationship Type="http://schemas.openxmlformats.org/officeDocument/2006/relationships/slide" Target="/ppt/slides/slide12.xml" Id="R079218f65baa4723" /><Relationship Type="http://schemas.openxmlformats.org/officeDocument/2006/relationships/slide" Target="/ppt/slides/slide13.xml" Id="R6a3dbf10ea1548a9" /><Relationship Type="http://schemas.openxmlformats.org/officeDocument/2006/relationships/slide" Target="/ppt/slides/slide14.xml" Id="Rec3187e8170843bc" /><Relationship Type="http://schemas.openxmlformats.org/officeDocument/2006/relationships/slide" Target="/ppt/slides/slide15.xml" Id="R311fc60447c844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930fdb972148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059488cff34527" /><Relationship Type="http://schemas.openxmlformats.org/officeDocument/2006/relationships/notesMaster" Target="/ppt/notesMasters/notesMaster1.xml" Id="Ra90467bafce843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8cb1d1897d4909" /><Relationship Type="http://schemas.openxmlformats.org/officeDocument/2006/relationships/notesMaster" Target="/ppt/notesMasters/notesMaster1.xml" Id="R7fe8a673a81f43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98c8a3a2ab4789" /><Relationship Type="http://schemas.openxmlformats.org/officeDocument/2006/relationships/notesMaster" Target="/ppt/notesMasters/notesMaster1.xml" Id="R94cfc485a3cc4c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8e2c92a89e4100" /><Relationship Type="http://schemas.openxmlformats.org/officeDocument/2006/relationships/notesMaster" Target="/ppt/notesMasters/notesMaster1.xml" Id="Rfce44ed0762941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42e932e9b642d3" /><Relationship Type="http://schemas.openxmlformats.org/officeDocument/2006/relationships/notesMaster" Target="/ppt/notesMasters/notesMaster1.xml" Id="R55a5ebedf75448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e94720f80244af" /><Relationship Type="http://schemas.openxmlformats.org/officeDocument/2006/relationships/notesMaster" Target="/ppt/notesMasters/notesMaster1.xml" Id="R7af1998bfd9144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db1f42732a4ba1" /><Relationship Type="http://schemas.openxmlformats.org/officeDocument/2006/relationships/notesMaster" Target="/ppt/notesMasters/notesMaster1.xml" Id="R2fa0176f086e48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e9cb20b6e34d5b" /><Relationship Type="http://schemas.openxmlformats.org/officeDocument/2006/relationships/notesMaster" Target="/ppt/notesMasters/notesMaster1.xml" Id="Ra16d8babf8ef42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5ab6eee9884dfc" /><Relationship Type="http://schemas.openxmlformats.org/officeDocument/2006/relationships/notesMaster" Target="/ppt/notesMasters/notesMaster1.xml" Id="R1ddcec33af254d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23a426bfc744e7" /><Relationship Type="http://schemas.openxmlformats.org/officeDocument/2006/relationships/notesMaster" Target="/ppt/notesMasters/notesMaster1.xml" Id="Re334118f11fa44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bad00cb428419c" /><Relationship Type="http://schemas.openxmlformats.org/officeDocument/2006/relationships/notesMaster" Target="/ppt/notesMasters/notesMaster1.xml" Id="R9a85168c5e3b4c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d8a97fc708463c" /><Relationship Type="http://schemas.openxmlformats.org/officeDocument/2006/relationships/notesMaster" Target="/ppt/notesMasters/notesMaster1.xml" Id="Rc49606d5d66b4c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cf5c83ee0f46ac" /><Relationship Type="http://schemas.openxmlformats.org/officeDocument/2006/relationships/notesMaster" Target="/ppt/notesMasters/notesMaster1.xml" Id="Rf6d7b020b95448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dd1bc8f9d44c8c" /><Relationship Type="http://schemas.openxmlformats.org/officeDocument/2006/relationships/notesMaster" Target="/ppt/notesMasters/notesMaster1.xml" Id="Rc70b34eb8d6047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4748248d0f451b" /><Relationship Type="http://schemas.openxmlformats.org/officeDocument/2006/relationships/notesMaster" Target="/ppt/notesMasters/notesMaster1.xml" Id="Rfd679267d34542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b63b4f0004a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c904ca62cf416e" /><Relationship Type="http://schemas.openxmlformats.org/officeDocument/2006/relationships/slideLayout" Target="/ppt/slideLayouts/slideLayout1.xml" Id="R51bd71c97a32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bd71c97a32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7e0dff37f4c4e" /><Relationship Type="http://schemas.openxmlformats.org/officeDocument/2006/relationships/notesSlide" Target="/ppt/notesSlides/notesSlide1.xml" Id="Rf090186ae86b44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645218c614a0e" /><Relationship Type="http://schemas.openxmlformats.org/officeDocument/2006/relationships/notesSlide" Target="/ppt/notesSlides/notesSlide2.xml" Id="R2703b7803c7644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0360ded64404c" /><Relationship Type="http://schemas.openxmlformats.org/officeDocument/2006/relationships/notesSlide" Target="/ppt/notesSlides/notesSlide3.xml" Id="Rda9436274df641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a5d519aae437e" /><Relationship Type="http://schemas.openxmlformats.org/officeDocument/2006/relationships/notesSlide" Target="/ppt/notesSlides/notesSlide4.xml" Id="Rddb50090cae748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4520f67c04115" /><Relationship Type="http://schemas.openxmlformats.org/officeDocument/2006/relationships/notesSlide" Target="/ppt/notesSlides/notesSlide5.xml" Id="R5c4b839708f841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b0a57fa6748d0" /><Relationship Type="http://schemas.openxmlformats.org/officeDocument/2006/relationships/image" Target="/ppt/media/image.jpeg" Id="R6a6ee132cf864649" /><Relationship Type="http://schemas.openxmlformats.org/officeDocument/2006/relationships/notesSlide" Target="/ppt/notesSlides/notesSlide6.xml" Id="R9f6ecc32b4b948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1477c68b14a58" /><Relationship Type="http://schemas.openxmlformats.org/officeDocument/2006/relationships/image" Target="/ppt/media/image2.jpeg" Id="Rca750963061a4249" /><Relationship Type="http://schemas.openxmlformats.org/officeDocument/2006/relationships/notesSlide" Target="/ppt/notesSlides/notesSlide7.xml" Id="R6cb1364755284d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5b5f2ed554d81" /><Relationship Type="http://schemas.openxmlformats.org/officeDocument/2006/relationships/image" Target="/ppt/media/image3.jpeg" Id="R04c6e3571ebe4672" /><Relationship Type="http://schemas.openxmlformats.org/officeDocument/2006/relationships/notesSlide" Target="/ppt/notesSlides/notesSlide8.xml" Id="R86c2efcfd3174e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8b260ac164fd2" /><Relationship Type="http://schemas.openxmlformats.org/officeDocument/2006/relationships/image" Target="/ppt/media/image4.jpeg" Id="Rbb64eda421d143d7" /><Relationship Type="http://schemas.openxmlformats.org/officeDocument/2006/relationships/notesSlide" Target="/ppt/notesSlides/notesSlide9.xml" Id="Re98af60eacee4a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4b6931ed94c1c" /><Relationship Type="http://schemas.openxmlformats.org/officeDocument/2006/relationships/image" Target="/ppt/media/image5.jpeg" Id="Rf6b59ecd54fa438f" /><Relationship Type="http://schemas.openxmlformats.org/officeDocument/2006/relationships/notesSlide" Target="/ppt/notesSlides/notesSlide10.xml" Id="Ra277bf0fabcb47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3e3f2ed474deb" /><Relationship Type="http://schemas.openxmlformats.org/officeDocument/2006/relationships/notesSlide" Target="/ppt/notesSlides/notesSlide11.xml" Id="R111fbf40485148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91a1afcf34d55" /><Relationship Type="http://schemas.openxmlformats.org/officeDocument/2006/relationships/notesSlide" Target="/ppt/notesSlides/notesSlide12.xml" Id="R3f99df034b0640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2db014bb44c48" /><Relationship Type="http://schemas.openxmlformats.org/officeDocument/2006/relationships/image" Target="/ppt/media/image6.jpeg" Id="R56ff231e172a4397" /><Relationship Type="http://schemas.openxmlformats.org/officeDocument/2006/relationships/notesSlide" Target="/ppt/notesSlides/notesSlide13.xml" Id="R755b966cd39f48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6bec9b1684316" /><Relationship Type="http://schemas.openxmlformats.org/officeDocument/2006/relationships/notesSlide" Target="/ppt/notesSlides/notesSlide14.xml" Id="Rd68001c4f22b41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666757e8e4ae9" /><Relationship Type="http://schemas.openxmlformats.org/officeDocument/2006/relationships/notesSlide" Target="/ppt/notesSlides/notesSlide15.xml" Id="Rc40c316736d648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FFAE5BC3-F4EF-4DD2-80C3-EC039331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SIGA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F876686-7A60-43F2-BCD4-EBD8CF25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Prototipo funcional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y mejora continua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817E709-41F8-40F6-9863-6322F9F0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CEBFF"/>
                </a:solidFill>
              </a:defRPr>
            </a:pPr>
            <a:r>
              <a:rPr sz="1650" b="0">
                <a:solidFill>
                  <a:srgbClr val="DCEBFF"/>
                </a:solidFill>
              </a:rPr>
              <a:t>Evaluación Parcial N.º 3 · Ingeniería de Software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F2FFF48-9E2C-41EF-8A40-B9BA27D4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7E8"/>
                </a:solidFill>
              </a:defRPr>
            </a:pPr>
            <a:r>
              <a:rPr sz="1350" b="0">
                <a:solidFill>
                  <a:srgbClr val="AFC7E8"/>
                </a:solidFill>
              </a:rPr>
              <a:t>Del MVP a una solución navegable en seis iteraciones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36330A55-018B-4012-A3A5-CEDA645A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04875"/>
            <a:ext cx="3048000" cy="4667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2B58"/>
          </a:solidFill>
          <a:ln xmlns:a="http://schemas.openxmlformats.org/drawingml/2006/main" w="9525">
            <a:solidFill>
              <a:srgbClr val="234C7C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89B56181-E4BE-4908-A568-690D0F29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335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200" b="1">
                <a:solidFill>
                  <a:srgbClr val="22D3EE"/>
                </a:solidFill>
              </a:defRPr>
            </a:pPr>
            <a:r>
              <a:rPr sz="7200" b="1">
                <a:solidFill>
                  <a:srgbClr val="22D3EE"/>
                </a:solidFill>
              </a:rPr>
              <a:t>6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F3441FD5-B044-4FA0-AC1A-3FDAEA71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ITERACIONES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754BF56-1BAA-4A4E-ACE1-A9C81041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18 casos de prueba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10 requisitos funcionales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10 requisitos no funcionales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0A9315D0-AD5C-4DC9-92BF-6AA3FA6F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FC7E8"/>
                </a:solidFill>
              </a:defRPr>
            </a:pPr>
            <a:r>
              <a:rPr sz="1125" b="0">
                <a:solidFill>
                  <a:srgbClr val="AFC7E8"/>
                </a:solidFill>
              </a:rPr>
              <a:t>Equipo SIGA · 2026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D05D313F-4670-42BF-8F82-D9468964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51414AD-2721-498F-AFBF-DBB18F2B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769474B3-949B-4068-A5BE-CD57C92C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1E8FAB54-31E5-4942-AABE-7407F338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143250" cy="3905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725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5675477F-4978-4877-A417-F995FF8B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1907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74BDCDF7-2CF1-441D-8DD6-D298EEEE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D6F20E5-E997-4869-9984-5B801A9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RQY1102 · Evaluación Parcial 3</a:t>
            </a:r>
          </a:p>
        </p:txBody>
      </p:sp>
      <p:sp>
        <p:nvSpPr>
          <p:cNvPr id="1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70AA882-B2AA-4CF6-A994-8E28BC2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172554"/>
                </a:solidFill>
              </a:defRPr>
            </a:pPr>
            <a:r>
              <a:rPr sz="5100" b="1">
                <a:solidFill>
                  <a:srgbClr val="172554"/>
                </a:solidFill>
              </a:rPr>
              <a:t>SIGA</a:t>
            </a:r>
          </a:p>
        </p:txBody>
      </p:sp>
      <p:sp>
        <p:nvSpPr>
          <p:cNvPr id="1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7EC6FE-B922-48D9-B899-FCCA17CE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E3A8A"/>
                </a:solidFill>
              </a:defRPr>
            </a:pPr>
            <a:r>
              <a:rPr sz="2100" b="1">
                <a:solidFill>
                  <a:srgbClr val="1E3A8A"/>
                </a:solidFill>
              </a:rPr>
              <a:t>Sistema Integrado de Gestión Aduanera</a:t>
            </a:r>
          </a:p>
        </p:txBody>
      </p:sp>
      <p:sp>
        <p:nvSpPr>
          <p:cNvPr id="1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ED1407DB-62EB-42A3-B391-B08D5AA6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Prototipo funcional para apoyar el control fronterizo entre Chile y Argentina, integrando Aduanas, SAG, autoatención, reportes y auditoría.</a:t>
            </a:r>
          </a:p>
        </p:txBody>
      </p:sp>
      <p:sp>
        <p:nvSpPr>
          <p:cNvPr id="20" name="cover-students-label">
            <a:extLst xmlns:a="http://schemas.openxmlformats.org/drawingml/2006/main">
              <a:ext uri="{FF2B5EF4-FFF2-40B4-BE49-F238E27FC236}">
                <a16:creationId xmlns:a16="http://schemas.microsoft.com/office/drawing/2014/main" id="{6FA3DC00-03F6-4D53-92A6-1EEAF112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4748B"/>
                </a:solidFill>
              </a:defRPr>
            </a:pPr>
            <a:r>
              <a:rPr sz="1425" b="1">
                <a:solidFill>
                  <a:srgbClr val="64748B"/>
                </a:solidFill>
              </a:rPr>
              <a:t>Integrantes</a:t>
            </a:r>
          </a:p>
        </p:txBody>
      </p:sp>
      <p:sp>
        <p:nvSpPr>
          <p:cNvPr id="21" name="cover-students">
            <a:extLst xmlns:a="http://schemas.openxmlformats.org/drawingml/2006/main">
              <a:ext uri="{FF2B5EF4-FFF2-40B4-BE49-F238E27FC236}">
                <a16:creationId xmlns:a16="http://schemas.microsoft.com/office/drawing/2014/main" id="{949723CA-470E-474D-B2CD-6BF1B9AF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Fernando Villalobos</a:t>
            </a:r>
          </a:p>
          <a:p xmlns:a="http://schemas.openxmlformats.org/drawingml/2006/main">
            <a:pPr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Marcelo Salas</a:t>
            </a:r>
          </a:p>
        </p:txBody>
      </p:sp>
      <p:sp>
        <p:nvSpPr>
          <p:cNvPr id="22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C43CEE8C-F472-4C3E-A572-0177654E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Asignatura</a:t>
            </a:r>
            <a:r>
              <a:rPr sz="1500">
                <a:solidFill>
                  <a:srgbClr val="334155"/>
                </a:solidFill>
              </a:rPr>
              <a:t>: </a:t>
            </a:r>
            <a:r>
              <a:rPr sz="1500">
                <a:solidFill>
                  <a:srgbClr val="334155"/>
                </a:solidFill>
              </a:rPr>
              <a:t>Ingeniería</a:t>
            </a:r>
            <a:r>
              <a:rPr sz="1500">
                <a:solidFill>
                  <a:srgbClr val="334155"/>
                </a:solidFill>
              </a:rPr>
              <a:t> de Software</a:t>
            </a:r>
          </a:p>
          <a:p xmlns:a="http://schemas.openxmlformats.org/drawingml/2006/main">
            <a:pPr>
              <a:buNone/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Profesor</a:t>
            </a:r>
            <a:r>
              <a:rPr sz="1500">
                <a:solidFill>
                  <a:srgbClr val="334155"/>
                </a:solidFill>
              </a:rPr>
              <a:t>(a): </a:t>
            </a:r>
            <a:r>
              <a:rPr sz="1500">
                <a:solidFill>
                  <a:srgbClr val="334155"/>
                </a:solidFill>
              </a:rPr>
              <a:t>Luis David Becerra Uribe</a:t>
            </a:r>
          </a:p>
        </p:txBody>
      </p:sp>
      <p:sp>
        <p:nvSpPr>
          <p:cNvPr id="23" name="cover-card-title">
            <a:extLst xmlns:a="http://schemas.openxmlformats.org/drawingml/2006/main">
              <a:ext uri="{FF2B5EF4-FFF2-40B4-BE49-F238E27FC236}">
                <a16:creationId xmlns:a16="http://schemas.microsoft.com/office/drawing/2014/main" id="{8218FACE-F018-46F8-B3A4-FCD90595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MVP → Prototipo funcional</a:t>
            </a:r>
          </a:p>
        </p:txBody>
      </p:sp>
      <p:sp>
        <p:nvSpPr>
          <p:cNvPr id="24" name="cover-card-body-1">
            <a:extLst xmlns:a="http://schemas.openxmlformats.org/drawingml/2006/main">
              <a:ext uri="{FF2B5EF4-FFF2-40B4-BE49-F238E27FC236}">
                <a16:creationId xmlns:a16="http://schemas.microsoft.com/office/drawing/2014/main" id="{B72AC532-818C-48B0-9200-2A7E5AFF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62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 iteraciones</a:t>
            </a:r>
          </a:p>
        </p:txBody>
      </p:sp>
      <p:sp>
        <p:nvSpPr>
          <p:cNvPr id="25" name="cover-card-body-2">
            <a:extLst xmlns:a="http://schemas.openxmlformats.org/drawingml/2006/main">
              <a:ext uri="{FF2B5EF4-FFF2-40B4-BE49-F238E27FC236}">
                <a16:creationId xmlns:a16="http://schemas.microsoft.com/office/drawing/2014/main" id="{D20B5869-CE61-48D6-A929-D1995022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Pruebas ISO</a:t>
            </a:r>
          </a:p>
        </p:txBody>
      </p:sp>
      <p:sp>
        <p:nvSpPr>
          <p:cNvPr id="26" name="cover-card-body-3">
            <a:extLst xmlns:a="http://schemas.openxmlformats.org/drawingml/2006/main">
              <a:ext uri="{FF2B5EF4-FFF2-40B4-BE49-F238E27FC236}">
                <a16:creationId xmlns:a16="http://schemas.microsoft.com/office/drawing/2014/main" id="{C39D9D75-28A1-4783-AA3C-46631749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52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Control de cambios</a:t>
            </a:r>
          </a:p>
        </p:txBody>
      </p:sp>
    </p:spTree>
    <p:extLst>
      <p:ext uri="{BB962C8B-B14F-4D97-AF65-F5344CB8AC3E}">
        <p14:creationId xmlns:p14="http://schemas.microsoft.com/office/powerpoint/2010/main" val="13770923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9937276D-7CDB-4DC2-A6F6-07E13EA9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ubric-header">
            <a:extLst xmlns:a="http://schemas.openxmlformats.org/drawingml/2006/main">
              <a:ext uri="{FF2B5EF4-FFF2-40B4-BE49-F238E27FC236}">
                <a16:creationId xmlns:a16="http://schemas.microsoft.com/office/drawing/2014/main" id="{8C84EE59-2314-4B33-9F12-63199FE0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SIGA · PROTOTIPO FUNCIONAL</a:t>
            </a:r>
          </a:p>
        </p:txBody>
      </p:sp>
      <p:sp>
        <p:nvSpPr>
          <p:cNvPr id="3" name="rubric-title">
            <a:extLst xmlns:a="http://schemas.openxmlformats.org/drawingml/2006/main">
              <a:ext uri="{FF2B5EF4-FFF2-40B4-BE49-F238E27FC236}">
                <a16:creationId xmlns:a16="http://schemas.microsoft.com/office/drawing/2014/main" id="{4A957A95-D6A8-4356-B28B-2832DA99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Cumplimiento de la rúbrica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B04D03D-58A4-4160-92C4-D72E2A4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EE8222D3-C630-476A-8E04-31155D6A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rubric-item-1">
            <a:extLst xmlns:a="http://schemas.openxmlformats.org/drawingml/2006/main">
              <a:ext uri="{FF2B5EF4-FFF2-40B4-BE49-F238E27FC236}">
                <a16:creationId xmlns:a16="http://schemas.microsoft.com/office/drawing/2014/main" id="{D92F42B0-883B-40D5-B511-5F22C5E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Contexto y problema</a:t>
            </a:r>
          </a:p>
        </p:txBody>
      </p:sp>
      <p:sp>
        <p:nvSpPr>
          <p:cNvPr id="7" name="rubric-body-1">
            <a:extLst xmlns:a="http://schemas.openxmlformats.org/drawingml/2006/main">
              <a:ext uri="{FF2B5EF4-FFF2-40B4-BE49-F238E27FC236}">
                <a16:creationId xmlns:a16="http://schemas.microsoft.com/office/drawing/2014/main" id="{209A094A-13B9-47C3-8CE6-CCEECE76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Caso base de control fronterizo Chile–Argentina, con foco en integración institucional y trazabilidad.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8860C38A-B40F-4859-9674-B65FDCB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rubric-item-2">
            <a:extLst xmlns:a="http://schemas.openxmlformats.org/drawingml/2006/main">
              <a:ext uri="{FF2B5EF4-FFF2-40B4-BE49-F238E27FC236}">
                <a16:creationId xmlns:a16="http://schemas.microsoft.com/office/drawing/2014/main" id="{125443AB-BC21-4184-A642-622C0D30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24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MVP inicial</a:t>
            </a:r>
          </a:p>
        </p:txBody>
      </p:sp>
      <p:sp>
        <p:nvSpPr>
          <p:cNvPr id="10" name="rubric-body-2">
            <a:extLst xmlns:a="http://schemas.openxmlformats.org/drawingml/2006/main">
              <a:ext uri="{FF2B5EF4-FFF2-40B4-BE49-F238E27FC236}">
                <a16:creationId xmlns:a16="http://schemas.microsoft.com/office/drawing/2014/main" id="{09F73D0A-26F5-4A68-A36B-2C5A77B9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28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Flujo mínimo validado: login, dashboard, registro aduanero, QR/LPR simulado y auditoría.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ED1BBB8F-9264-4E41-A142-2902AD7C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rubric-item-3">
            <a:extLst xmlns:a="http://schemas.openxmlformats.org/drawingml/2006/main">
              <a:ext uri="{FF2B5EF4-FFF2-40B4-BE49-F238E27FC236}">
                <a16:creationId xmlns:a16="http://schemas.microsoft.com/office/drawing/2014/main" id="{A6147694-B259-4979-8A4D-207F031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Iteraciones</a:t>
            </a:r>
          </a:p>
        </p:txBody>
      </p:sp>
      <p:sp>
        <p:nvSpPr>
          <p:cNvPr id="13" name="rubric-body-3">
            <a:extLst xmlns:a="http://schemas.openxmlformats.org/drawingml/2006/main">
              <a:ext uri="{FF2B5EF4-FFF2-40B4-BE49-F238E27FC236}">
                <a16:creationId xmlns:a16="http://schemas.microsoft.com/office/drawing/2014/main" id="{FC8BC6D8-BEA7-4EBB-A89E-A5FAE617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Evolución documentada en 6 etapas: interfaz, Aduana, SAG, autoatención, reportes y seguridad.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E0E74EBD-273A-4C4E-BD2C-A53A4571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099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ubric-item-4">
            <a:extLst xmlns:a="http://schemas.openxmlformats.org/drawingml/2006/main">
              <a:ext uri="{FF2B5EF4-FFF2-40B4-BE49-F238E27FC236}">
                <a16:creationId xmlns:a16="http://schemas.microsoft.com/office/drawing/2014/main" id="{B7DD8EE2-C10B-4B41-8834-DFB3D6EE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81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Prototipo funcional</a:t>
            </a:r>
          </a:p>
        </p:txBody>
      </p:sp>
      <p:sp>
        <p:nvSpPr>
          <p:cNvPr id="16" name="rubric-body-4">
            <a:extLst xmlns:a="http://schemas.openxmlformats.org/drawingml/2006/main">
              <a:ext uri="{FF2B5EF4-FFF2-40B4-BE49-F238E27FC236}">
                <a16:creationId xmlns:a16="http://schemas.microsoft.com/office/drawing/2014/main" id="{8697B643-9277-4C3F-ACAF-9A6D6BA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86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Módulos navegables con datos mock/localStorage, reglas de negocio y comprobantes imprimibles.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12633253-8916-4B24-91FF-4B70C99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rubric-item-5">
            <a:extLst xmlns:a="http://schemas.openxmlformats.org/drawingml/2006/main">
              <a:ext uri="{FF2B5EF4-FFF2-40B4-BE49-F238E27FC236}">
                <a16:creationId xmlns:a16="http://schemas.microsoft.com/office/drawing/2014/main" id="{F7D0FD70-917B-4325-B334-8629009C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Pruebas y calidad</a:t>
            </a:r>
          </a:p>
        </p:txBody>
      </p:sp>
      <p:sp>
        <p:nvSpPr>
          <p:cNvPr id="19" name="rubric-body-5">
            <a:extLst xmlns:a="http://schemas.openxmlformats.org/drawingml/2006/main">
              <a:ext uri="{FF2B5EF4-FFF2-40B4-BE49-F238E27FC236}">
                <a16:creationId xmlns:a16="http://schemas.microsoft.com/office/drawing/2014/main" id="{19B4DF07-FEFD-41C7-9A60-FD16D48D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Plan basado en ISO 25000 / ISO 9126, con casos funcionales, usabilidad, seguridad y compatibilidad.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E779D5CE-B40A-40B2-A831-B00785B8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672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ubric-item-6">
            <a:extLst xmlns:a="http://schemas.openxmlformats.org/drawingml/2006/main">
              <a:ext uri="{FF2B5EF4-FFF2-40B4-BE49-F238E27FC236}">
                <a16:creationId xmlns:a16="http://schemas.microsoft.com/office/drawing/2014/main" id="{74DFF794-2DF0-4F15-9EF9-DBDFB6FF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386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Control de cambios</a:t>
            </a:r>
          </a:p>
        </p:txBody>
      </p:sp>
      <p:sp>
        <p:nvSpPr>
          <p:cNvPr id="22" name="rubric-body-6">
            <a:extLst xmlns:a="http://schemas.openxmlformats.org/drawingml/2006/main">
              <a:ext uri="{FF2B5EF4-FFF2-40B4-BE49-F238E27FC236}">
                <a16:creationId xmlns:a16="http://schemas.microsoft.com/office/drawing/2014/main" id="{34592215-85B0-4796-BF1B-C16F6271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434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Registro de mejoras por versión y trazabilidad entre requisitos, pruebas y funcionalidades.</a:t>
            </a:r>
          </a:p>
        </p:txBody>
      </p:sp>
      <p:sp>
        <p:nvSpPr>
          <p:cNvPr id="23" name="Rectángulo: esquinas redondeadas 22">
            <a:extLst xmlns:a="http://schemas.openxmlformats.org/drawingml/2006/main">
              <a:ext uri="{FF2B5EF4-FFF2-40B4-BE49-F238E27FC236}">
                <a16:creationId xmlns:a16="http://schemas.microsoft.com/office/drawing/2014/main" id="{DF9BB630-23E1-4AA5-BD85-2CD1322D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85800"/>
            <a:ext cx="1333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4" name="pill-Entrega 3">
            <a:extLst xmlns:a="http://schemas.openxmlformats.org/drawingml/2006/main">
              <a:ext uri="{FF2B5EF4-FFF2-40B4-BE49-F238E27FC236}">
                <a16:creationId xmlns:a16="http://schemas.microsoft.com/office/drawing/2014/main" id="{B419C686-0C03-44F8-8612-ACC54B9F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905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Entrega 3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3B76D85D-D67E-444E-B2EF-2F6AABB2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85800"/>
            <a:ext cx="1524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pill-Demo lista">
            <a:extLst xmlns:a="http://schemas.openxmlformats.org/drawingml/2006/main">
              <a:ext uri="{FF2B5EF4-FFF2-40B4-BE49-F238E27FC236}">
                <a16:creationId xmlns:a16="http://schemas.microsoft.com/office/drawing/2014/main" id="{2F6607C8-2689-4B5B-9983-B786D2FE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90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Demo lista</a:t>
            </a:r>
          </a:p>
        </p:txBody>
      </p:sp>
    </p:spTree>
    <p:extLst>
      <p:ext uri="{BB962C8B-B14F-4D97-AF65-F5344CB8AC3E}">
        <p14:creationId xmlns:p14="http://schemas.microsoft.com/office/powerpoint/2010/main" val="1121389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03DD6DE0-A63C-4DAD-8F15-C20CE7CD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7AC5EABA-E5AB-4280-B843-4253ED2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Problema y objetivo de la solución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E7287BF-D042-43EF-A36F-596B95BA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CB9762C-225B-48F3-B7BA-65F08AEB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02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678F8C6F-05D1-4C05-B811-4F8D2FD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44D7B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80399B2-505B-4BBC-BCDA-3BF62EB7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Situación inicial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EBF2AFDD-D4DD-4ED9-8D5A-A5294E5F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1EBCEABC-F5CF-4F7F-AE70-239E78E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Procesos manuales y duplicación de datos.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0A578513-86EA-4798-821B-78368577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2C93D4B-80D7-4879-9D8C-A652D2B4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Largos tiempos de espera en pasos terrestres.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342383E0-C268-4BE0-A199-E40124DE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DECF3ABA-48CD-422F-8C5A-2AA47D3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Sistemas separados entre Aduanas, PDI y SAG.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010F4A37-EB96-4279-9645-8B4257F7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8D7BDBC-1DAC-476B-8D85-FFF6271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Baja trazabilidad de decisiones y rechazos.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414C7296-57F5-4805-A794-28AD6A23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56197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7EC9650-5228-4797-B097-7087DF57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E3A8A"/>
                </a:solidFill>
              </a:defRPr>
            </a:pPr>
            <a:r>
              <a:rPr sz="1875" b="1">
                <a:solidFill>
                  <a:srgbClr val="1E3A8A"/>
                </a:solidFill>
              </a:rPr>
              <a:t>Objetivo SIGA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5CD89BC1-96B6-4C70-A7AE-051B630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Unificar y automatizar el control fronterizo mediante una experiencia clara, trazable y preparada para integrar organismos externos.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5A33AD4-4A45-478F-B9EE-4192A63B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Resultado esperado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3E87C1B7-766C-4DAA-8889-4085D293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E3A8A"/>
                </a:solidFill>
              </a:defRPr>
            </a:pPr>
            <a:r>
              <a:rPr sz="2025" b="1">
                <a:solidFill>
                  <a:srgbClr val="1E3A8A"/>
                </a:solidFill>
              </a:rPr>
              <a:t>Menos espera · menos errores · mejor fiscalización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7201E9D-0EBA-4F31-A1F8-7B2EB7F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91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El prototipo simula las integraciones sin utilizar datos reales ni backend.</a:t>
            </a:r>
          </a:p>
        </p:txBody>
      </p:sp>
    </p:spTree>
    <p:extLst>
      <p:ext uri="{BB962C8B-B14F-4D97-AF65-F5344CB8AC3E}">
        <p14:creationId xmlns:p14="http://schemas.microsoft.com/office/powerpoint/2010/main" val="817587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27108B47-02E1-4B49-83F3-85EB1019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21FE167-DAD6-4836-A05B-C11C86A7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Alcance funcional y actores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9ABA350-3A98-4B7B-877F-80F9F54F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E8984AD-5510-4049-870E-E90EE967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03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3269FA2A-D97B-4C7B-B574-508105A7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032283AC-17BA-469A-8169-7F64FAE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Aduanas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006FB69-E234-45E2-8B99-B2D03DEE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Vehículos, permisos y plazos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B8DC801E-5FBF-48F1-849E-2187AE22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22E16F98-5AE2-4D18-951B-6D6FB720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PDI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BE20980-6060-4272-AFBA-56ED9B1A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Identidad y autorización de menores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54CD93C4-D0ED-41A1-B205-FAB1E0CD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DCD4E79B-420A-4512-8DBB-3359F0E5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SAG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BE00BB4-4D12-4009-BEB0-E23439F0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Declaraciones e inspecciones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33BD17BC-D16F-42A3-9AA0-58FD248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3E7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5AEE4AA-DE6C-4931-88BF-45B87B94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Administrador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87CAE50F-0A49-4D37-B10E-962E6E0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Auditoría, usuarios y reportes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71DEFFDC-ECA0-4172-BA9F-F58F1817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Procesos cubiertos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4DDBEEF1-9AB1-4AA4-8356-BDBC3874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3C3851E0-7677-4BC0-AED3-FE0FEA0E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Login y roles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EFD5C1CF-602F-42BC-BDCF-54A8AD3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1942AAE7-D6D6-47AB-BAF9-C60F2EF3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QR y LPR</a:t>
            </a:r>
          </a:p>
        </p:txBody>
      </p:sp>
      <p:sp>
        <p:nvSpPr>
          <p:cNvPr id="22" name="Rectángulo: esquinas redondeadas 21">
            <a:extLst xmlns:a="http://schemas.openxmlformats.org/drawingml/2006/main">
              <a:ext uri="{FF2B5EF4-FFF2-40B4-BE49-F238E27FC236}">
                <a16:creationId xmlns:a16="http://schemas.microsoft.com/office/drawing/2014/main" id="{0A2DCB02-550A-4280-9125-42DC34B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D7228A9C-D483-4B13-A820-46D8B3A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Reglas 180/90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01B24A9A-8C3D-4930-8882-0172CF0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DC381EFD-26DE-409F-AACB-4D95F30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Impresión dual</a:t>
            </a:r>
          </a:p>
        </p:txBody>
      </p:sp>
      <p:sp>
        <p:nvSpPr>
          <p:cNvPr id="26" name="Rectángulo: esquinas redondeadas 25">
            <a:extLst xmlns:a="http://schemas.openxmlformats.org/drawingml/2006/main">
              <a:ext uri="{FF2B5EF4-FFF2-40B4-BE49-F238E27FC236}">
                <a16:creationId xmlns:a16="http://schemas.microsoft.com/office/drawing/2014/main" id="{967113F3-89BD-43D7-9941-04A11EF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30BA6A64-4796-4F3A-B623-46D2E0E4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Declaración SAG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F2ECDB48-4AA5-4832-A5C1-4CF22859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58344E16-669A-4F6D-B178-8963E324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Tótem de pasajeros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0AFF3CC6-F988-4219-8E8E-9E792BE1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011E8409-68E8-4425-B2F6-4F0F3A49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Auditoría</a:t>
            </a:r>
          </a:p>
        </p:txBody>
      </p:sp>
      <p:sp>
        <p:nvSpPr>
          <p:cNvPr id="32" name="Rectángulo: esquinas redondeadas 31">
            <a:extLst xmlns:a="http://schemas.openxmlformats.org/drawingml/2006/main">
              <a:ext uri="{FF2B5EF4-FFF2-40B4-BE49-F238E27FC236}">
                <a16:creationId xmlns:a16="http://schemas.microsoft.com/office/drawing/2014/main" id="{0F6D27B0-4010-4DE4-A73D-8A31E6CC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486E7BE9-C3FB-4A04-83BD-8664DE38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CSV y PDF</a:t>
            </a:r>
          </a:p>
        </p:txBody>
      </p:sp>
    </p:spTree>
    <p:extLst>
      <p:ext uri="{BB962C8B-B14F-4D97-AF65-F5344CB8AC3E}">
        <p14:creationId xmlns:p14="http://schemas.microsoft.com/office/powerpoint/2010/main" val="1966910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9ECBFFE1-8CE8-4903-AD8F-8414D10F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8E42F16-A680-47BC-A1F2-974D0B5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Seis iteraciones desde el MVP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1D3890C6-08AE-4078-A784-202CC6D7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918CC4F-9D95-4E3F-B23A-294D43E9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04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33BC939-2AE9-48B2-AC86-33D155D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4675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68A"/>
          </a:solidFill>
          <a:ln xmlns:a="http://schemas.openxmlformats.org/drawingml/2006/main" w="0">
            <a:solidFill>
              <a:srgbClr val="28568A"/>
            </a:solidFill>
            <a:prstDash val="solid"/>
          </a:ln>
        </p:spPr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4A1591CF-C3E6-4E43-8494-B4ACEDF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7DC0847-9EF8-4FD1-9408-2309474F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0116C154-EC57-466E-BABA-12E4FE22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Acceso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E97DB299-9BEC-4907-889F-3F4F01D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BC29344-5B6B-4247-A84E-F57C2AC2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9217C511-53F3-4CD9-9CB5-84265D19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Login y panel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EFBB0D6A-CA68-4DD5-9485-69CB7E72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38F4014-999B-4744-8F7D-2D7F780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BDB7663-25A4-4220-B7EB-47AC7A9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Diseño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0B0EC0F1-05F8-4714-A8D7-38FF51BB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6EB93B39-DE92-4289-8586-BE2F676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49F94DC-8AE2-4E34-AC39-521998F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Tailwind y roles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0F6562D6-6871-4ED2-90FB-EDBE6CEC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3EB90A9-9596-4696-B4F9-710EFDEC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v0.3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E7AC8FEB-8D62-4818-B4E6-516A71A8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Aduana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245A4521-3CAC-42B9-A1E5-EF529885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DE35A97-D3AE-4AE7-A26A-353447C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D1DC4C6B-9F56-4294-8F6F-6265C533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QR, LPR, 180/90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0BB2A35E-0F13-42EB-B7BA-73E57AE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A111E987-CDBF-4A3F-B7E8-C898874C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v0.4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26247FE9-8209-4DD1-9295-15F3B57F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SAG</a:t>
            </a:r>
          </a:p>
        </p:txBody>
      </p:sp>
      <p:sp>
        <p:nvSpPr>
          <p:cNvPr id="27" name="Rectángulo: esquinas redondeadas 26">
            <a:extLst xmlns:a="http://schemas.openxmlformats.org/drawingml/2006/main">
              <a:ext uri="{FF2B5EF4-FFF2-40B4-BE49-F238E27FC236}">
                <a16:creationId xmlns:a16="http://schemas.microsoft.com/office/drawing/2014/main" id="{2DCBF16D-ADF5-4E9A-B210-6AD48FDA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0450243B-E75F-4E4E-9149-B355CAB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FB3A64A4-52C5-4267-BA07-869EA7D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DJ y autoatención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C639DFDF-58C4-4874-B9F3-E5C047A5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4DA1CA07-3449-4DD3-B7AD-48C90FBA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v0.5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656EFB5-B0D2-46BB-B03D-222F0ABD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33" name="Rectángulo: esquinas redondeadas 32">
            <a:extLst xmlns:a="http://schemas.openxmlformats.org/drawingml/2006/main">
              <a:ext uri="{FF2B5EF4-FFF2-40B4-BE49-F238E27FC236}">
                <a16:creationId xmlns:a16="http://schemas.microsoft.com/office/drawing/2014/main" id="{4DDF6476-D759-4762-901F-2D7E87B8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4238E277-2D1A-437F-8E37-3B30A029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27C7669D-4756-4D2F-80A6-89B106E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Auditoría y CSV</a:t>
            </a:r>
          </a:p>
        </p:txBody>
      </p:sp>
      <p:sp>
        <p:nvSpPr>
          <p:cNvPr id="36" name="Rectángulo: esquinas redondeadas 35">
            <a:extLst xmlns:a="http://schemas.openxmlformats.org/drawingml/2006/main">
              <a:ext uri="{FF2B5EF4-FFF2-40B4-BE49-F238E27FC236}">
                <a16:creationId xmlns:a16="http://schemas.microsoft.com/office/drawing/2014/main" id="{1E6478A3-7232-4A6F-B7AE-F931413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B8832A1C-CB1E-4AF3-805B-7EC9286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v1.0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28C0CBD0-D5F5-4293-A699-E3B4E07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Calidad</a:t>
            </a:r>
          </a:p>
        </p:txBody>
      </p:sp>
      <p:sp>
        <p:nvSpPr>
          <p:cNvPr id="39" name="Rectángulo: esquinas redondeadas 38">
            <a:extLst xmlns:a="http://schemas.openxmlformats.org/drawingml/2006/main">
              <a:ext uri="{FF2B5EF4-FFF2-40B4-BE49-F238E27FC236}">
                <a16:creationId xmlns:a16="http://schemas.microsoft.com/office/drawing/2014/main" id="{873E2FD3-3C5A-4906-8346-1732BFE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1661FC83-5CF0-4593-AE50-60D708D8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CC266D91-E893-406E-8AA3-4711742D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Pruebas y cierre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8AD4E6AF-A0A4-40A1-8C58-945932F7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482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Cada etapa agrega valor verificable y deja evidencia en el control de cambios.</a:t>
            </a:r>
          </a:p>
        </p:txBody>
      </p:sp>
    </p:spTree>
    <p:extLst>
      <p:ext uri="{BB962C8B-B14F-4D97-AF65-F5344CB8AC3E}">
        <p14:creationId xmlns:p14="http://schemas.microsoft.com/office/powerpoint/2010/main" val="4485838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82D7B-2966-40C0-898D-3F596B44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E131DC0-432C-4F3B-91CD-FE21B92E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0A5FA"/>
                </a:solidFill>
              </a:defRPr>
            </a:pPr>
            <a:r>
              <a:rPr sz="1125" b="1">
                <a:solidFill>
                  <a:srgbClr val="60A5FA"/>
                </a:solidFill>
              </a:rPr>
              <a:t>MVP · evidencia demostrable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713C8E-5166-4EE0-859B-2DFCD6F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Evolución interactiva del prototipo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6C213-6E62-43E1-8A2F-7F79D94B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cription">
            <a:extLst xmlns:a="http://schemas.openxmlformats.org/drawingml/2006/main">
              <a:ext uri="{FF2B5EF4-FFF2-40B4-BE49-F238E27FC236}">
                <a16:creationId xmlns:a16="http://schemas.microsoft.com/office/drawing/2014/main" id="{B8B01986-F29C-46BA-84BB-3A7AD8D3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BEAFE"/>
                </a:solidFill>
              </a:defRPr>
            </a:pPr>
            <a:r>
              <a:rPr sz="1350">
                <a:solidFill>
                  <a:srgbClr val="DBEAFE"/>
                </a:solidFill>
              </a:rPr>
              <a:t>La sección “Evolución MVP” ya no solo documenta versiones: permite pinchar cada iteración y ver qué incluía, qué mejoró y qué limitaciones tenía esa etapa.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ee132cf864649"/>
          <a:srcRect xmlns:a="http://schemas.openxmlformats.org/drawingml/2006/main" l="0" t="4414" r="0" b="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428875"/>
            <a:ext cx="7239000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4CA42-89CC-4F13-8996-9764DC1D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33750" cy="450532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8" name="side-title">
            <a:extLst xmlns:a="http://schemas.openxmlformats.org/drawingml/2006/main">
              <a:ext uri="{FF2B5EF4-FFF2-40B4-BE49-F238E27FC236}">
                <a16:creationId xmlns:a16="http://schemas.microsoft.com/office/drawing/2014/main" id="{4E4B3EC3-668C-4826-8CD3-334FAE6D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240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Cómo se demuestra en la exposición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2B079-EA7F-4D35-BFCA-44F6F9E1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6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94">
            <a:extLst xmlns:a="http://schemas.openxmlformats.org/drawingml/2006/main">
              <a:ext uri="{FF2B5EF4-FFF2-40B4-BE49-F238E27FC236}">
                <a16:creationId xmlns:a16="http://schemas.microsoft.com/office/drawing/2014/main" id="{F88B6B34-E86C-4B66-8B9A-7D4F119D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BEAFE"/>
                </a:solidFill>
              </a:defRPr>
            </a:pPr>
            <a:r>
              <a:rPr sz="1275">
                <a:solidFill>
                  <a:srgbClr val="DBEAFE"/>
                </a:solidFill>
              </a:rPr>
              <a:t>Seleccionar una versión: v0.1, v0.2, v0.3, v0.4, v0.5 o v1.0.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CB542-CC3B-4678-A600-E7E2CDD6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356">
            <a:extLst xmlns:a="http://schemas.openxmlformats.org/drawingml/2006/main">
              <a:ext uri="{FF2B5EF4-FFF2-40B4-BE49-F238E27FC236}">
                <a16:creationId xmlns:a16="http://schemas.microsoft.com/office/drawing/2014/main" id="{5500CCB5-E87A-4A8F-B197-D9031CB4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BEAFE"/>
                </a:solidFill>
              </a:defRPr>
            </a:pPr>
            <a:r>
              <a:rPr sz="1275">
                <a:solidFill>
                  <a:srgbClr val="DBEAFE"/>
                </a:solidFill>
              </a:rPr>
              <a:t>Mostrar el snapshot visible de la etapa seleccionada.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B33D2-8C83-4B1B-A0FD-058A3390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418">
            <a:extLst xmlns:a="http://schemas.openxmlformats.org/drawingml/2006/main">
              <a:ext uri="{FF2B5EF4-FFF2-40B4-BE49-F238E27FC236}">
                <a16:creationId xmlns:a16="http://schemas.microsoft.com/office/drawing/2014/main" id="{4458F714-2BC1-432B-8DFA-E6797C27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BEAFE"/>
                </a:solidFill>
              </a:defRPr>
            </a:pPr>
            <a:r>
              <a:rPr sz="1275">
                <a:solidFill>
                  <a:srgbClr val="DBEAFE"/>
                </a:solidFill>
              </a:rPr>
              <a:t>Explicar módulos, mejoras aplicadas y pendientes.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B501B-9B3D-4259-9F67-F4ECCCF5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480">
            <a:extLst xmlns:a="http://schemas.openxmlformats.org/drawingml/2006/main">
              <a:ext uri="{FF2B5EF4-FFF2-40B4-BE49-F238E27FC236}">
                <a16:creationId xmlns:a16="http://schemas.microsoft.com/office/drawing/2014/main" id="{9B2EADA6-D1A7-46E6-BADC-03CA2170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BEAFE"/>
                </a:solidFill>
              </a:defRPr>
            </a:pPr>
            <a:r>
              <a:rPr sz="1275">
                <a:solidFill>
                  <a:srgbClr val="DBEAFE"/>
                </a:solidFill>
              </a:rPr>
              <a:t>Conectar la evidencia con el control de cambios y las pruebas.</a:t>
            </a:r>
          </a:p>
        </p:txBody>
      </p:sp>
      <p:sp>
        <p:nvSpPr>
          <p:cNvPr id="17" name="callout">
            <a:extLst xmlns:a="http://schemas.openxmlformats.org/drawingml/2006/main">
              <a:ext uri="{FF2B5EF4-FFF2-40B4-BE49-F238E27FC236}">
                <a16:creationId xmlns:a16="http://schemas.microsoft.com/office/drawing/2014/main" id="{EF428B91-6B27-47B7-9388-4638B6F9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911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FDBFE"/>
                </a:solidFill>
              </a:defRPr>
            </a:pPr>
            <a:r>
              <a:rPr sz="1350" b="1">
                <a:solidFill>
                  <a:srgbClr val="BFDBFE"/>
                </a:solidFill>
              </a:rPr>
              <a:t>Esto permite evidenciar la progresión desde el MVP hasta el prototipo funcional final.</a:t>
            </a:r>
          </a:p>
        </p:txBody>
      </p:sp>
    </p:spTree>
    <p:extLst>
      <p:ext uri="{BB962C8B-B14F-4D97-AF65-F5344CB8AC3E}">
        <p14:creationId xmlns:p14="http://schemas.microsoft.com/office/powerpoint/2010/main" val="1160439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A0C55B7E-21A4-47DB-AB97-F095DAC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6CB45A1-CC69-4B85-9E95-6F56451B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Resultado: panel operativo integrado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951EBEE-2826-4DC7-9868-D4A77809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86F380B-0E70-47AC-9711-64D41E8F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05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5B7C6544-3732-4975-B7C3-C1E4C2C1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46760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50963061a4249"/>
          <a:srcRect xmlns:a="http://schemas.openxmlformats.org/drawingml/2006/main" l="1875" t="0" r="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33425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AFD9647-5A5D-4B6D-987F-22F8D950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Visión unificada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14B941B3-A39F-4459-967D-735F394D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08B2E27-2B7A-4532-8122-B2501EAA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Indicadores por módulo.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586A7724-C603-4742-A300-3E11F875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F557D0E3-F1C2-47E0-B8BD-F7BD131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03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Actividad reciente y estados.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C8E0F194-3706-4B71-8C12-9173FBC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36AD0A3-1F80-4CE8-BF9C-B48E562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Navegación según el rol.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DD7FEE15-59B6-4BA5-849C-A8AA6401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D778EB21-CDB2-4D5A-B63F-C81FCA0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Persistencia entre sesiones.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F0BAC7BF-376A-4CAA-A677-870C85FC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76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3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FCC126E5-DB5E-4DAC-B030-A3107D86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19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Información accionable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en una sola pantalla</a:t>
            </a:r>
          </a:p>
        </p:txBody>
      </p:sp>
    </p:spTree>
    <p:extLst>
      <p:ext uri="{BB962C8B-B14F-4D97-AF65-F5344CB8AC3E}">
        <p14:creationId xmlns:p14="http://schemas.microsoft.com/office/powerpoint/2010/main" val="1541260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AD3FE738-EE57-433C-B52E-A4F7E96F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DE24E44-EDD8-4CBB-91FC-9D0C4313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vehicular: reglas y evidencia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C42A401-63EA-4154-A19D-D2AED041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9316D26-8734-414D-B687-7165FE2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06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160DCDEA-9950-4867-80B0-334048B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372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6" name="Imagen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6e3571ebe4672"/>
          <a:srcRect xmlns:a="http://schemas.openxmlformats.org/drawingml/2006/main" l="2500" t="0" r="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239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95A5870-27F6-4C58-8133-59B00086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Automatización crítica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570FAED2-6011-4AB8-B077-84B36CD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B6730BA2-3E39-4F2D-974C-583B1B12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336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Lectura QR simulada.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08512278-03E7-490E-A06D-C9F3428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62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7ECC9A2-7F64-4827-9507-5C9CD2E4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8607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Patente mediante LPR.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5879C8A4-E38E-4366-AD06-DC6FF89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93A4BE8-1C3B-4A55-8F59-57B89898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385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180 días: particulares.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58C93A4F-9D9D-4076-BFFA-93CA7C64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545C11A9-8183-4233-8394-96A2767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99097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90 días: diplomáticos.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CDF46E8D-89E1-4B99-9AEF-9893C1AD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9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66EA9C0-4B74-4497-BA0C-7F0B800F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5434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Dos copias físicas obligatorias.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2796664B-5ED1-41B3-92A6-2B145309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67325"/>
            <a:ext cx="295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45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725F391-A547-420B-8EB9-37E095EE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10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Cálculo automático del vencimiento</a:t>
            </a:r>
          </a:p>
        </p:txBody>
      </p:sp>
    </p:spTree>
    <p:extLst>
      <p:ext uri="{BB962C8B-B14F-4D97-AF65-F5344CB8AC3E}">
        <p14:creationId xmlns:p14="http://schemas.microsoft.com/office/powerpoint/2010/main" val="1091653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23F9551-CF71-4DF5-8DC4-17F85FE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C78271D-39E1-47B5-98CF-0267516D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SAG y autoatención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6CC422F-415A-4B92-BECB-D6995EB7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4F953C78-72DC-415F-963C-5B0EBE1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07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003EE9DA-22E4-4BFC-8D36-0AB8844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6991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4eda421d143d7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6858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B5C50DC5-4D95-4A51-A50F-9648D491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367665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140AE90-491F-44B1-9939-198C7B2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Declaración SAG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09A8982D-AD98-4BD0-ADBA-C97174E9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FF"/>
                </a:solidFill>
              </a:defRPr>
            </a:pPr>
            <a:r>
              <a:rPr sz="1350" b="0">
                <a:solidFill>
                  <a:srgbClr val="DCEBFF"/>
                </a:solidFill>
              </a:rPr>
              <a:t>Una declaración positiva marca el caso como observado y lo deriva a inspección física.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2954FC6-31A9-458C-8AB8-79718096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36766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03DE1D17-D2C4-41E2-B064-0FF86FF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Tótem de pasajeros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A8F1842C-D0D6-4C5E-BE1A-8E408AF0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D83EDF0-61BE-451B-8404-E82C372B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Registro previo a ventanilla.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7B2BA263-DF74-428B-B929-9C4B3FF5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56A6323-6F04-434B-BCF4-45932586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720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Código de atención.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B89CAE40-E944-4054-A15B-B903D02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6CEA0FD0-22A6-4902-B965-529A045A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Menores: autorización obligatoria.</a:t>
            </a:r>
          </a:p>
        </p:txBody>
      </p:sp>
    </p:spTree>
    <p:extLst>
      <p:ext uri="{BB962C8B-B14F-4D97-AF65-F5344CB8AC3E}">
        <p14:creationId xmlns:p14="http://schemas.microsoft.com/office/powerpoint/2010/main" val="166394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402F0CA-80DF-4ED6-83A8-2283690A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289ECA68-28F8-4C61-B107-29D35A5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Trazabilidad, indicadores y exportación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CD95292-7B62-4170-84CA-35750AA0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817D4B2B-277B-4243-BF44-549D33F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08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09F8DFB0-D0D5-40D1-9182-88A14BF3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27710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59ecd54fa438f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14375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3A04E57D-1DD2-47DF-B028-FE8B701E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Control de la operación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3384EA4C-0EE7-4FF3-B32A-0B0C9E77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9336D65-84B9-4538-8CCB-686F2324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Auditoría: usuario, fecha y acción.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CABFCC8-C584-4CBE-BA94-3B685FAB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59EC561-0E5D-44FF-B9D5-E75BF1E3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Indicadores de aprobación.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36075D66-3A7B-4FF4-A629-AB897C6C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0015BE2-9C44-4523-A966-E40EF0AB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195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Exportación CSV.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EB766D14-F804-4048-AA91-80107E46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78EA1923-D866-4474-A4A2-4F3DE216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38625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Impresión / guardado PDF.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644F083E-0189-4945-A508-1AA8155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C4C8731-A26D-4C11-89ED-D2D4B853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577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Acceso exclusivo del administrador.</a:t>
            </a:r>
          </a:p>
        </p:txBody>
      </p:sp>
    </p:spTree>
    <p:extLst>
      <p:ext uri="{BB962C8B-B14F-4D97-AF65-F5344CB8AC3E}">
        <p14:creationId xmlns:p14="http://schemas.microsoft.com/office/powerpoint/2010/main" val="5638532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FBC6BBD-99AB-42AF-A608-C0E79935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E1381A21-53CA-4563-8562-9AD004D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Modelo de calidad aplicado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D54920F-DC5B-4F3C-A7AD-D0D1DFB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1779968-5670-4A59-A441-510A9273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09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01C6DC6-B252-4DE7-A68B-FA734866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ISO 9126 / familia ISO 25000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88D3F574-B97A-4155-B258-A2FE7812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A92493C-FE48-4DD8-98F2-6DB6761F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Funcionalidad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207B8ACB-2C61-463E-818D-D6467FB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52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Flujos críticos y reglas del negocio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4249F033-EFBF-4D18-A8BF-FB618DE3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4EBB55F-C86C-494E-802C-1FE4A3C0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Usabilidad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F688F3D-DA81-48F0-A2A4-C175D99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52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Responsive, mensajes y ayuda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6459301B-A347-4A24-9A1B-6D234928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AF059EE-0142-4052-8A95-072E616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Fiabilidad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CC9B1DC-9912-4E7F-9E35-756D359C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147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Persistencia y validaciones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469BDC37-B776-4492-A869-96AABD57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699F7F2-7504-43A9-AE19-2995294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Eficiencia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BBBEEEEE-18DD-4334-9FEC-411A5FF5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147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Respuesta inmediata y build optimizado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E6AD26F8-4C58-4A28-898D-7A6217D0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F58E86F-00D4-4B32-841B-2DA127A1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Mantenibilidad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7053DA31-2351-41A4-A5BE-6E135B0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767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React, componentes y TypeScript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CA22FC77-EA8B-49B0-8FE3-BA10183A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B7B8210D-C290-4281-ABBD-9095F95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Portabilidad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C0144E77-9154-44D1-A324-189E4352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Aplicación web multiplataforma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2DA088F-1400-4CF7-A77F-98A0BCB6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Calidad observable: cada atributo se vincula a una función o evidencia ejecutable.</a:t>
            </a:r>
          </a:p>
        </p:txBody>
      </p:sp>
    </p:spTree>
    <p:extLst>
      <p:ext uri="{BB962C8B-B14F-4D97-AF65-F5344CB8AC3E}">
        <p14:creationId xmlns:p14="http://schemas.microsoft.com/office/powerpoint/2010/main" val="1714307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F52979B5-AA66-458E-BA9B-BE768597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1939107-392B-45F7-BAA6-2C54A82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Plan de pruebas y resultados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B450FB6C-ABBE-4C1E-A9B5-5AF65FD0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66A0568C-ED7A-4DCE-8DA1-FC025754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10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A93EF4AB-B869-48DE-A18F-1CE864D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A54DD49-7AB1-4171-A251-5BCA8C2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2D3EE"/>
                </a:solidFill>
              </a:defRPr>
            </a:pPr>
            <a:r>
              <a:rPr sz="4050" b="1">
                <a:solidFill>
                  <a:srgbClr val="22D3EE"/>
                </a:solidFill>
              </a:rPr>
              <a:t>18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F3F47B8F-9CD4-4742-B605-A2BDF7E1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planificados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D1101E78-5681-4663-B3D2-A385191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8B2D2D9-1FFF-45BB-AC71-64450E36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8BDF8"/>
                </a:solidFill>
              </a:defRPr>
            </a:pPr>
            <a:r>
              <a:rPr sz="4050" b="1">
                <a:solidFill>
                  <a:srgbClr val="38BDF8"/>
                </a:solidFill>
              </a:rPr>
              <a:t>18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7AFE1DB-9CB7-4694-95A3-E0873675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ejecutados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273CBC4A-F8BB-45A4-A848-61EF49CF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22F9F03B-642B-4DD2-9032-1C85567B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4D399"/>
                </a:solidFill>
              </a:defRPr>
            </a:pPr>
            <a:r>
              <a:rPr sz="4050" b="1">
                <a:solidFill>
                  <a:srgbClr val="34D399"/>
                </a:solidFill>
              </a:rPr>
              <a:t>18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572FC74-3C16-4780-B9AA-1D38E4CD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aprobados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F67E45C8-851B-4FA4-B07A-47F1FD7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5A1DFD57-960F-48C9-8609-70B13473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FBBF24"/>
                </a:solidFill>
              </a:defRPr>
            </a:pPr>
            <a:r>
              <a:rPr sz="4050" b="1">
                <a:solidFill>
                  <a:srgbClr val="FBBF24"/>
                </a:solidFill>
              </a:rPr>
              <a:t>0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B43EFBCA-0A48-482B-9C83-F3854FE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errores críticos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118992BB-5AB9-4CFD-8AA4-3968F56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Cobertura prioritaria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F2E67D87-88A0-4982-BDD6-6219405B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D654DF3-C5F6-4461-BF94-F647017D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Acceso válido, inválido y control de roles.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62EB3085-D352-45DD-A0E5-A43E40CA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E347C8F8-CAA8-467C-BF03-D88B3E30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QR, LPR, plazos e impresión dual.</a:t>
            </a:r>
          </a:p>
        </p:txBody>
      </p:sp>
      <p:sp>
        <p:nvSpPr>
          <p:cNvPr id="22" name="Rectángulo: esquinas redondeadas 21">
            <a:extLst xmlns:a="http://schemas.openxmlformats.org/drawingml/2006/main">
              <a:ext uri="{FF2B5EF4-FFF2-40B4-BE49-F238E27FC236}">
                <a16:creationId xmlns:a16="http://schemas.microsoft.com/office/drawing/2014/main" id="{C122194C-424A-4DA9-969F-38555F3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995EC495-518A-4A90-BA41-07BF8A9F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Derivación SAG y autorización de menores.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D86F6800-04B0-49AC-88E8-31633444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51054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F8352977-E0F8-4AA4-B766-890B1E08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48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Verificación técnica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A0210514-EDC3-415B-83B2-B9A5B88A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npm run build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npm run lint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Sin errores de consola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Sin overflow en 390 px</a:t>
            </a:r>
          </a:p>
        </p:txBody>
      </p:sp>
    </p:spTree>
    <p:extLst>
      <p:ext uri="{BB962C8B-B14F-4D97-AF65-F5344CB8AC3E}">
        <p14:creationId xmlns:p14="http://schemas.microsoft.com/office/powerpoint/2010/main" val="16562012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0FF660B2-F537-43A0-A7FE-8C1BAE5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84232F1-9805-4F44-874B-97E87DC9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de versiones y mejora continua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32C6A54-504F-4559-81DA-5F7D5658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F6E62E1E-CE1E-4C35-883E-1D22F00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11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AF7EBEF4-4EB1-450D-A010-2D2F6869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372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f231e172a4397"/>
          <a:srcRect xmlns:a="http://schemas.openxmlformats.org/drawingml/2006/main" l="2500" t="0" r="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239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D407B0F-9C1E-475E-A41C-30DD663F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Evidencia disponible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5FB6E8F4-67D5-41B6-B873-464B7574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31FAD324-C360-4E49-9C3A-2B95B83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Historial Git del proyecto.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5A9CF50B-0869-4262-B74E-6F6521A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C123731-DA67-4383-84A7-24CB4BB2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Seis versiones documentadas.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78885918-74E6-4383-8814-55524B80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8BD5F4A6-7C23-43F2-A897-E0A8925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Matriz requisito–prueba.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2A274189-F29E-4918-BD5F-8C148C1A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FF53F42E-B5F8-461F-83A6-71D31848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3862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Planilla de control de cambios.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F2E4A223-CDA4-4797-A5E7-8E3A91C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95875"/>
            <a:ext cx="2952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3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C7D0505-2D05-43EC-881F-0490350E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Cada cambio responde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a un riesgo o requisito</a:t>
            </a:r>
          </a:p>
        </p:txBody>
      </p:sp>
    </p:spTree>
    <p:extLst>
      <p:ext uri="{BB962C8B-B14F-4D97-AF65-F5344CB8AC3E}">
        <p14:creationId xmlns:p14="http://schemas.microsoft.com/office/powerpoint/2010/main" val="1381318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823F7BE-9A5A-47E4-B0DE-666828F1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4291236-6BD2-4B90-9504-1925BD0A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Recorrido recomendado para la demostración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CF7DB7A-F54F-43AB-A108-47C3B96E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FC68E89-AA64-47E3-A0BC-E1E0485B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12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BD98F4A1-AA67-47F3-ADAE-0BBF374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ABFCAB4C-CCEB-4E26-A20F-9F7A3659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637960C-44D1-4B41-B409-5BDB5BFB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B2C820A-940E-4E9F-81C2-385BF55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Acceso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22E483B-3C54-48C5-B39E-42AC0F62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Ingresar como funcionario.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2E296A9-B110-4553-ACDF-EC98E7AF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72C37973-9729-45B4-A0DC-F6E00C75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0D54D5F-E67D-45E5-830D-2B599E7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E89745EF-746C-4BD9-8FA5-8DD11BB9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Aduana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77168BAC-96A4-48B6-A9A4-189B7FF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Simular QR/LPR y emitir permiso.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846BA245-D4CA-4AD7-8C6A-488B15E0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9BAEA4B0-3387-4A0D-AF5A-F7ED2F2F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AE78A46C-66A8-4CFA-9470-E664F061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B6F80794-B487-478F-9104-28B16BF4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SAG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FCD29ACE-EE0F-4779-98F2-49B6E70E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Declarar alimentos y derivar.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3FC73CC8-E99A-4D55-AC5B-56523C43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B25A45D4-2072-41E2-AD7A-C6D4B4DE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83959E72-8DDF-4D00-9E82-99FBF6F8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C06552AA-5A74-4C1D-8A69-CA7A4BED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Tótem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2BB3F70F-2DA6-4753-9EFE-412A57D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Registrar menor sin autorización.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C22BBB5A-1AEA-4A17-BDBF-303557A9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6" name="Rectángulo: esquinas redondeadas 25">
            <a:extLst xmlns:a="http://schemas.openxmlformats.org/drawingml/2006/main">
              <a:ext uri="{FF2B5EF4-FFF2-40B4-BE49-F238E27FC236}">
                <a16:creationId xmlns:a16="http://schemas.microsoft.com/office/drawing/2014/main" id="{E36ADE43-2749-42C1-B2B1-351330BF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F3FAEEC-07E0-4778-AC6E-8FD3C7E7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9796DF4-AD5A-4891-80B9-5172978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Reportes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B66F4B9-D01F-45B9-85E0-E77AB2CC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Mostrar indicadores y CSV.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20146C30-B8E8-4F5C-A840-83A96B74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9EF87888-2335-47C2-A254-8F44C153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11FEF80F-68D8-40CF-AD38-A465FED7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4865AA19-44E8-4023-B8DC-DB7265A6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Admin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B7F03CB-5BAF-4605-8AB6-7B7063C8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Revisar auditoría completa.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E790587C-F72F-4F18-9931-7CD693E7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Duración sugerida: 6–8 minutos</a:t>
            </a:r>
          </a:p>
        </p:txBody>
      </p:sp>
    </p:spTree>
    <p:extLst>
      <p:ext uri="{BB962C8B-B14F-4D97-AF65-F5344CB8AC3E}">
        <p14:creationId xmlns:p14="http://schemas.microsoft.com/office/powerpoint/2010/main" val="9116736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CA3ACD58-F871-40B5-8BF1-04A988C1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E3957B-AF0B-4B53-84D3-F1620D3F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CEBFF"/>
                </a:solidFill>
              </a:defRPr>
            </a:pPr>
            <a:r>
              <a:rPr sz="2250" b="1">
                <a:solidFill>
                  <a:srgbClr val="DCEBFF"/>
                </a:solidFill>
              </a:rPr>
              <a:t>SIGA evolucionó desde un acceso mínimo hasta un prototipo funcional, trazable y respaldado por pruebas.</a:t>
            </a:r>
          </a:p>
        </p:txBody>
      </p:sp>
      <p:sp>
        <p:nvSpPr>
          <p:cNvPr id="3" name="Rectángulo: esquinas redondeadas 2">
            <a:extLst xmlns:a="http://schemas.openxmlformats.org/drawingml/2006/main">
              <a:ext uri="{FF2B5EF4-FFF2-40B4-BE49-F238E27FC236}">
                <a16:creationId xmlns:a16="http://schemas.microsoft.com/office/drawing/2014/main" id="{D6D78EC7-B416-4179-8100-9294078A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51443B9-7DE2-472B-8CB2-F6030A64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Requisitos funcionales implementados o simulados.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2CDFD784-3822-4BA8-9C00-88DDA4C2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B65BF8A-15DF-42D3-8BE4-49056755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Reglas fronterizas críticas visibles y comprobables.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4CA9B7C7-81EC-46B5-A195-7EAD220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2641A150-86C5-42AE-AC1C-07389DB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Calidad vinculada a evidencias concretas.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5586C72C-5ECA-4147-AC8D-BFF26DAB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4DDB1D0-A181-42A6-B331-C594C367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Seis iteraciones documentadas para mejora continua.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9628E9D5-4A6B-41F5-BE55-F67D535C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33500"/>
            <a:ext cx="2762250" cy="3714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B2B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EC287B92-D4E4-4A8D-9529-849C3EA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D3EE"/>
                </a:solidFill>
              </a:defRPr>
            </a:pPr>
            <a:r>
              <a:rPr sz="2550" b="1">
                <a:solidFill>
                  <a:srgbClr val="22D3EE"/>
                </a:solidFill>
              </a:rPr>
              <a:t>LISTO PARA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C867C50-6AEF-49FE-BA3E-0085A30C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DEMOSTRACIÓN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88777509-8652-458F-9FDC-2A3AFB7E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671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Build ✓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Lint ✓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Pruebas ✓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Documentación ✓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60F8014B-0D5E-49C1-9379-9737163D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FC7E8"/>
                </a:solidFill>
              </a:defRPr>
            </a:pPr>
            <a:r>
              <a:rPr sz="1725" b="0">
                <a:solidFill>
                  <a:srgbClr val="AFC7E8"/>
                </a:solidFill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2121260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2026-06-26T13:13:25.5810000Z</dcterms:created>
  <dcterms:modified xsi:type="dcterms:W3CDTF">2026-06-26T13:13:25.5810000Z</dcterms:modified>
</coreProperties>
</file>