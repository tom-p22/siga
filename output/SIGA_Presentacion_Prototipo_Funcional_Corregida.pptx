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FAE5BC3-F4EF-4DD2-80C3-EC0393317A59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SIGA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876686-7A60-43F2-BCD4-EBD8CF25673E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6858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Prototipo funcional</a:t>
            </a:r>
          </a:p>
          <a:p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y mejora continua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817E709-41F8-40F6-9863-6322F9F02C1A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28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DCEBFF"/>
                </a:solidFill>
              </a:defRPr>
            </a:pPr>
            <a:r>
              <a:rPr sz="1650" b="0">
                <a:solidFill>
                  <a:srgbClr val="DCEBFF"/>
                </a:solidFill>
              </a:rPr>
              <a:t>Evaluación Parcial N.º 3 · Ingeniería de Software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F2FFF48-9E2C-41EF-8A40-B9BA27D4176B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AFC7E8"/>
                </a:solidFill>
              </a:defRPr>
            </a:pPr>
            <a:r>
              <a:rPr sz="1350" b="0">
                <a:solidFill>
                  <a:srgbClr val="AFC7E8"/>
                </a:solidFill>
              </a:rPr>
              <a:t>Del MVP a una solución navegable en seis iteraciones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6330A55-018B-4012-A3A5-CEDA645AB7A3}"/>
              </a:ext>
            </a:extLst>
          </p:cNvPr>
          <p:cNvSpPr>
            <a:spLocks noGrp="1"/>
          </p:cNvSpPr>
          <p:nvPr/>
        </p:nvSpPr>
        <p:spPr>
          <a:xfrm>
            <a:off x="8096250" y="904875"/>
            <a:ext cx="3048000" cy="4667250"/>
          </a:xfrm>
          <a:prstGeom prst="roundRect">
            <a:avLst>
              <a:gd name="adj" fmla="val 5000"/>
            </a:avLst>
          </a:prstGeom>
          <a:solidFill>
            <a:srgbClr val="0B2B58"/>
          </a:solidFill>
          <a:ln w="9525">
            <a:solidFill>
              <a:srgbClr val="234C7C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B56181-E4BE-4908-A568-690D0F292EEC}"/>
              </a:ext>
            </a:extLst>
          </p:cNvPr>
          <p:cNvSpPr>
            <a:spLocks noGrp="1"/>
          </p:cNvSpPr>
          <p:nvPr/>
        </p:nvSpPr>
        <p:spPr>
          <a:xfrm>
            <a:off x="8334375" y="1333500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200" b="1">
                <a:solidFill>
                  <a:srgbClr val="22D3EE"/>
                </a:solidFill>
              </a:defRPr>
            </a:pPr>
            <a:r>
              <a:rPr sz="7200" b="1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441FD5-B044-4FA0-AC1A-3FDAEA71E90A}"/>
              </a:ext>
            </a:extLst>
          </p:cNvPr>
          <p:cNvSpPr>
            <a:spLocks noGrp="1"/>
          </p:cNvSpPr>
          <p:nvPr/>
        </p:nvSpPr>
        <p:spPr>
          <a:xfrm>
            <a:off x="8334375" y="252412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ITERACIONES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54BF56-1BAA-4A4E-ACE1-A9C810415FC7}"/>
              </a:ext>
            </a:extLst>
          </p:cNvPr>
          <p:cNvSpPr>
            <a:spLocks noGrp="1"/>
          </p:cNvSpPr>
          <p:nvPr/>
        </p:nvSpPr>
        <p:spPr>
          <a:xfrm>
            <a:off x="8477250" y="3286125"/>
            <a:ext cx="2286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18 casos de prueba</a:t>
            </a:r>
          </a:p>
          <a:p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funcionales</a:t>
            </a:r>
          </a:p>
          <a:p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no funcionales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315D0-AD5C-4DC9-92BF-6AA3FA6F0A7F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Equipo SIGA · 2026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5D313F-4670-42BF-8F82-D94689643A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1414AD-2721-498F-AFBF-DBB18F2B7F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9474B3-949B-4068-A5BE-CD57C92C2F9E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2000" cy="76200"/>
          </a:xfrm>
          <a:prstGeom prst="rect">
            <a:avLst/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E8FAB54-31E5-4942-AABE-7407F3386027}"/>
              </a:ext>
            </a:extLst>
          </p:cNvPr>
          <p:cNvSpPr>
            <a:spLocks noGrp="1"/>
          </p:cNvSpPr>
          <p:nvPr/>
        </p:nvSpPr>
        <p:spPr>
          <a:xfrm>
            <a:off x="7810500" y="1381125"/>
            <a:ext cx="3143250" cy="390525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9525">
            <a:solidFill>
              <a:srgbClr val="17255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675477F-4978-4877-A417-F995FF8B65B5}"/>
              </a:ext>
            </a:extLst>
          </p:cNvPr>
          <p:cNvSpPr>
            <a:spLocks noGrp="1"/>
          </p:cNvSpPr>
          <p:nvPr/>
        </p:nvSpPr>
        <p:spPr>
          <a:xfrm>
            <a:off x="8286750" y="1885950"/>
            <a:ext cx="2190750" cy="135255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</p:spPr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4BDCDF7-2CF1-441D-8DD6-D298EEEEE9AE}"/>
              </a:ext>
            </a:extLst>
          </p:cNvPr>
          <p:cNvSpPr>
            <a:spLocks noGrp="1"/>
          </p:cNvSpPr>
          <p:nvPr/>
        </p:nvSpPr>
        <p:spPr>
          <a:xfrm>
            <a:off x="8334375" y="3429000"/>
            <a:ext cx="2095500" cy="102870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6" name="cover-eyebrow">
            <a:extLst>
              <a:ext uri="{FF2B5EF4-FFF2-40B4-BE49-F238E27FC236}">
                <a16:creationId xmlns:a16="http://schemas.microsoft.com/office/drawing/2014/main" id="{8D6F20E5-E997-4869-9984-5B801A9A5C31}"/>
              </a:ext>
            </a:extLst>
          </p:cNvPr>
          <p:cNvSpPr>
            <a:spLocks noGrp="1"/>
          </p:cNvSpPr>
          <p:nvPr/>
        </p:nvSpPr>
        <p:spPr>
          <a:xfrm>
            <a:off x="742950" y="333375"/>
            <a:ext cx="552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RQY1102 · Evaluación Parcial 3</a:t>
            </a:r>
          </a:p>
        </p:txBody>
      </p:sp>
      <p:sp>
        <p:nvSpPr>
          <p:cNvPr id="17" name="cover-title">
            <a:extLst>
              <a:ext uri="{FF2B5EF4-FFF2-40B4-BE49-F238E27FC236}">
                <a16:creationId xmlns:a16="http://schemas.microsoft.com/office/drawing/2014/main" id="{E70AA882-B2AA-4CF6-A994-8E28BC243AC8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476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100" b="1">
                <a:solidFill>
                  <a:srgbClr val="172554"/>
                </a:solidFill>
              </a:defRPr>
            </a:pPr>
            <a:r>
              <a:rPr sz="5100" b="1">
                <a:solidFill>
                  <a:srgbClr val="172554"/>
                </a:solidFill>
              </a:rPr>
              <a:t>SIGA</a:t>
            </a:r>
          </a:p>
        </p:txBody>
      </p:sp>
      <p:sp>
        <p:nvSpPr>
          <p:cNvPr id="18" name="cover-subtitle">
            <a:extLst>
              <a:ext uri="{FF2B5EF4-FFF2-40B4-BE49-F238E27FC236}">
                <a16:creationId xmlns:a16="http://schemas.microsoft.com/office/drawing/2014/main" id="{C87EC6FE-B922-48D9-B899-FCCA17CEBB82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638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E3A8A"/>
                </a:solidFill>
              </a:defRPr>
            </a:pPr>
            <a:r>
              <a:rPr sz="2100" b="1">
                <a:solidFill>
                  <a:srgbClr val="1E3A8A"/>
                </a:solidFill>
              </a:rPr>
              <a:t>Sistema Integrado de Gestión Aduanera</a:t>
            </a:r>
          </a:p>
        </p:txBody>
      </p:sp>
      <p:sp>
        <p:nvSpPr>
          <p:cNvPr id="19" name="cover-description">
            <a:extLst>
              <a:ext uri="{FF2B5EF4-FFF2-40B4-BE49-F238E27FC236}">
                <a16:creationId xmlns:a16="http://schemas.microsoft.com/office/drawing/2014/main" id="{ED1407DB-62EB-42A3-B391-B08D5AA631F0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619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Prototipo funcional para apoyar el control fronterizo entre Chile y Argentina, integrando Aduanas, SAG, autoatención, reportes y auditoría.</a:t>
            </a:r>
          </a:p>
        </p:txBody>
      </p:sp>
      <p:sp>
        <p:nvSpPr>
          <p:cNvPr id="20" name="cover-students-label">
            <a:extLst>
              <a:ext uri="{FF2B5EF4-FFF2-40B4-BE49-F238E27FC236}">
                <a16:creationId xmlns:a16="http://schemas.microsoft.com/office/drawing/2014/main" id="{6FA3DC00-03F6-4D53-92A6-1EEAF11214AB}"/>
              </a:ext>
            </a:extLst>
          </p:cNvPr>
          <p:cNvSpPr>
            <a:spLocks noGrp="1"/>
          </p:cNvSpPr>
          <p:nvPr/>
        </p:nvSpPr>
        <p:spPr>
          <a:xfrm>
            <a:off x="781050" y="461962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Integrantes</a:t>
            </a:r>
          </a:p>
        </p:txBody>
      </p:sp>
      <p:sp>
        <p:nvSpPr>
          <p:cNvPr id="21" name="cover-students">
            <a:extLst>
              <a:ext uri="{FF2B5EF4-FFF2-40B4-BE49-F238E27FC236}">
                <a16:creationId xmlns:a16="http://schemas.microsoft.com/office/drawing/2014/main" id="{949723CA-470E-474D-B2CD-6BF1B9AF76B3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</a:rPr>
              <a:t>Fernando Villalobos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 dirty="0">
                <a:solidFill>
                  <a:srgbClr val="0F172A"/>
                </a:solidFill>
              </a:rPr>
              <a:t>Marcelo Salas</a:t>
            </a:r>
          </a:p>
        </p:txBody>
      </p:sp>
      <p:sp>
        <p:nvSpPr>
          <p:cNvPr id="22" name="cover-course">
            <a:extLst>
              <a:ext uri="{FF2B5EF4-FFF2-40B4-BE49-F238E27FC236}">
                <a16:creationId xmlns:a16="http://schemas.microsoft.com/office/drawing/2014/main" id="{C43CEE8C-F472-4C3E-A572-0177654E7A76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334155"/>
                </a:solidFill>
              </a:defRPr>
            </a:pPr>
            <a:r>
              <a:rPr sz="1500" dirty="0" err="1">
                <a:solidFill>
                  <a:srgbClr val="334155"/>
                </a:solidFill>
              </a:rPr>
              <a:t>Asignatura</a:t>
            </a:r>
            <a:r>
              <a:rPr sz="1500" dirty="0">
                <a:solidFill>
                  <a:srgbClr val="334155"/>
                </a:solidFill>
              </a:rPr>
              <a:t>: </a:t>
            </a:r>
            <a:r>
              <a:rPr sz="1500" dirty="0" err="1">
                <a:solidFill>
                  <a:srgbClr val="334155"/>
                </a:solidFill>
              </a:rPr>
              <a:t>Ingeniería</a:t>
            </a:r>
            <a:r>
              <a:rPr sz="1500" dirty="0">
                <a:solidFill>
                  <a:srgbClr val="334155"/>
                </a:solidFill>
              </a:rPr>
              <a:t> de Software</a:t>
            </a:r>
          </a:p>
          <a:p>
            <a:pPr>
              <a:defRPr sz="1500">
                <a:solidFill>
                  <a:srgbClr val="334155"/>
                </a:solidFill>
              </a:defRPr>
            </a:pPr>
            <a:r>
              <a:rPr sz="1500" dirty="0" err="1">
                <a:solidFill>
                  <a:srgbClr val="334155"/>
                </a:solidFill>
              </a:rPr>
              <a:t>Profesor</a:t>
            </a:r>
            <a:r>
              <a:rPr sz="1500" dirty="0">
                <a:solidFill>
                  <a:srgbClr val="334155"/>
                </a:solidFill>
              </a:rPr>
              <a:t>(a): </a:t>
            </a:r>
            <a:r>
              <a:rPr lang="es-CL" sz="1500" dirty="0">
                <a:solidFill>
                  <a:srgbClr val="334155"/>
                </a:solidFill>
              </a:rPr>
              <a:t>Luis David Becerra Uribe</a:t>
            </a:r>
            <a:endParaRPr sz="1500" dirty="0">
              <a:solidFill>
                <a:srgbClr val="334155"/>
              </a:solidFill>
            </a:endParaRPr>
          </a:p>
        </p:txBody>
      </p:sp>
      <p:sp>
        <p:nvSpPr>
          <p:cNvPr id="23" name="cover-card-title">
            <a:extLst>
              <a:ext uri="{FF2B5EF4-FFF2-40B4-BE49-F238E27FC236}">
                <a16:creationId xmlns:a16="http://schemas.microsoft.com/office/drawing/2014/main" id="{8218FACE-F018-46F8-B3A4-FCD90595CAF2}"/>
              </a:ext>
            </a:extLst>
          </p:cNvPr>
          <p:cNvSpPr>
            <a:spLocks noGrp="1"/>
          </p:cNvSpPr>
          <p:nvPr/>
        </p:nvSpPr>
        <p:spPr>
          <a:xfrm>
            <a:off x="8286750" y="21526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MVP → Prototipo funcional</a:t>
            </a:r>
          </a:p>
        </p:txBody>
      </p:sp>
      <p:sp>
        <p:nvSpPr>
          <p:cNvPr id="24" name="cover-card-body-1">
            <a:extLst>
              <a:ext uri="{FF2B5EF4-FFF2-40B4-BE49-F238E27FC236}">
                <a16:creationId xmlns:a16="http://schemas.microsoft.com/office/drawing/2014/main" id="{B72AC532-818C-48B0-9200-2A7E5AFF267C}"/>
              </a:ext>
            </a:extLst>
          </p:cNvPr>
          <p:cNvSpPr>
            <a:spLocks noGrp="1"/>
          </p:cNvSpPr>
          <p:nvPr/>
        </p:nvSpPr>
        <p:spPr>
          <a:xfrm>
            <a:off x="8429625" y="35623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 iteraciones</a:t>
            </a:r>
          </a:p>
        </p:txBody>
      </p:sp>
      <p:sp>
        <p:nvSpPr>
          <p:cNvPr id="25" name="cover-card-body-2">
            <a:extLst>
              <a:ext uri="{FF2B5EF4-FFF2-40B4-BE49-F238E27FC236}">
                <a16:creationId xmlns:a16="http://schemas.microsoft.com/office/drawing/2014/main" id="{D20B5869-CE61-48D6-A929-D199502209CA}"/>
              </a:ext>
            </a:extLst>
          </p:cNvPr>
          <p:cNvSpPr>
            <a:spLocks noGrp="1"/>
          </p:cNvSpPr>
          <p:nvPr/>
        </p:nvSpPr>
        <p:spPr>
          <a:xfrm>
            <a:off x="8429625" y="38576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Pruebas ISO</a:t>
            </a:r>
          </a:p>
        </p:txBody>
      </p:sp>
      <p:sp>
        <p:nvSpPr>
          <p:cNvPr id="26" name="cover-card-body-3">
            <a:extLst>
              <a:ext uri="{FF2B5EF4-FFF2-40B4-BE49-F238E27FC236}">
                <a16:creationId xmlns:a16="http://schemas.microsoft.com/office/drawing/2014/main" id="{C39D9D75-28A1-4783-AA3C-46631749B40D}"/>
              </a:ext>
            </a:extLst>
          </p:cNvPr>
          <p:cNvSpPr>
            <a:spLocks noGrp="1"/>
          </p:cNvSpPr>
          <p:nvPr/>
        </p:nvSpPr>
        <p:spPr>
          <a:xfrm>
            <a:off x="8429625" y="415290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 de cambios</a:t>
            </a:r>
          </a:p>
        </p:txBody>
      </p:sp>
    </p:spTree>
    <p:extLst>
      <p:ext uri="{BB962C8B-B14F-4D97-AF65-F5344CB8AC3E}">
        <p14:creationId xmlns:p14="http://schemas.microsoft.com/office/powerpoint/2010/main" val="137709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9937276D-7CDB-4DC2-A6F6-07E13EA955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2" name="rubric-header">
            <a:extLst>
              <a:ext uri="{FF2B5EF4-FFF2-40B4-BE49-F238E27FC236}">
                <a16:creationId xmlns:a16="http://schemas.microsoft.com/office/drawing/2014/main" id="{8C84EE59-2314-4B33-9F12-63199FE0B4F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SIGA · PROTOTIPO FUNCIONAL</a:t>
            </a:r>
          </a:p>
        </p:txBody>
      </p:sp>
      <p:sp>
        <p:nvSpPr>
          <p:cNvPr id="3" name="rubric-title">
            <a:extLst>
              <a:ext uri="{FF2B5EF4-FFF2-40B4-BE49-F238E27FC236}">
                <a16:creationId xmlns:a16="http://schemas.microsoft.com/office/drawing/2014/main" id="{4A957A95-D6A8-4356-B28B-2832DA99506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Cumplimiento de la rúbrica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B04D03D-58A4-4160-92C4-D72E2A4A747F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914400" cy="38100"/>
          </a:xfrm>
          <a:prstGeom prst="rect">
            <a:avLst/>
          </a:prstGeom>
          <a:solidFill>
            <a:srgbClr val="3B82F6"/>
          </a:solidFill>
          <a:ln w="0">
            <a:noFill/>
            <a:prstDash val="solid"/>
          </a:ln>
        </p:spPr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E8222D3-C630-476A-8E04-31155D6AB21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4953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ubric-item-1">
            <a:extLst>
              <a:ext uri="{FF2B5EF4-FFF2-40B4-BE49-F238E27FC236}">
                <a16:creationId xmlns:a16="http://schemas.microsoft.com/office/drawing/2014/main" id="{D92F42B0-883B-40D5-B511-5F22C5E48CE6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Contexto y problema</a:t>
            </a:r>
          </a:p>
        </p:txBody>
      </p:sp>
      <p:sp>
        <p:nvSpPr>
          <p:cNvPr id="7" name="rubric-body-1">
            <a:extLst>
              <a:ext uri="{FF2B5EF4-FFF2-40B4-BE49-F238E27FC236}">
                <a16:creationId xmlns:a16="http://schemas.microsoft.com/office/drawing/2014/main" id="{209A094A-13B9-47C3-8CE6-CCEECE7631FF}"/>
              </a:ext>
            </a:extLst>
          </p:cNvPr>
          <p:cNvSpPr>
            <a:spLocks noGrp="1"/>
          </p:cNvSpPr>
          <p:nvPr/>
        </p:nvSpPr>
        <p:spPr>
          <a:xfrm>
            <a:off x="876300" y="24288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Caso base de control fronterizo Chile–Argentina, con foco en integración institucional y trazabilidad.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860C38A-B40F-4859-9674-B65FDCBC2C02}"/>
              </a:ext>
            </a:extLst>
          </p:cNvPr>
          <p:cNvSpPr>
            <a:spLocks noGrp="1"/>
          </p:cNvSpPr>
          <p:nvPr/>
        </p:nvSpPr>
        <p:spPr>
          <a:xfrm>
            <a:off x="6143625" y="1952625"/>
            <a:ext cx="4953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ubric-item-2">
            <a:extLst>
              <a:ext uri="{FF2B5EF4-FFF2-40B4-BE49-F238E27FC236}">
                <a16:creationId xmlns:a16="http://schemas.microsoft.com/office/drawing/2014/main" id="{125443AB-BC21-4184-A642-622C0D30669B}"/>
              </a:ext>
            </a:extLst>
          </p:cNvPr>
          <p:cNvSpPr>
            <a:spLocks noGrp="1"/>
          </p:cNvSpPr>
          <p:nvPr/>
        </p:nvSpPr>
        <p:spPr>
          <a:xfrm>
            <a:off x="6353175" y="21240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MVP inicial</a:t>
            </a:r>
          </a:p>
        </p:txBody>
      </p:sp>
      <p:sp>
        <p:nvSpPr>
          <p:cNvPr id="10" name="rubric-body-2">
            <a:extLst>
              <a:ext uri="{FF2B5EF4-FFF2-40B4-BE49-F238E27FC236}">
                <a16:creationId xmlns:a16="http://schemas.microsoft.com/office/drawing/2014/main" id="{09F73D0A-26F5-4A68-A36B-2C5A77B91A2A}"/>
              </a:ext>
            </a:extLst>
          </p:cNvPr>
          <p:cNvSpPr>
            <a:spLocks noGrp="1"/>
          </p:cNvSpPr>
          <p:nvPr/>
        </p:nvSpPr>
        <p:spPr>
          <a:xfrm>
            <a:off x="6353175" y="24288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Flujo mínimo validado: login, dashboard, registro aduanero, QR/LPR simulado y auditoría.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D1BBB8F-9264-4E41-A142-2902AD7CA181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4953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ubric-item-3">
            <a:extLst>
              <a:ext uri="{FF2B5EF4-FFF2-40B4-BE49-F238E27FC236}">
                <a16:creationId xmlns:a16="http://schemas.microsoft.com/office/drawing/2014/main" id="{A6147694-B259-4979-8A4D-207F0311C649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Iteraciones</a:t>
            </a:r>
          </a:p>
        </p:txBody>
      </p:sp>
      <p:sp>
        <p:nvSpPr>
          <p:cNvPr id="13" name="rubric-body-3">
            <a:extLst>
              <a:ext uri="{FF2B5EF4-FFF2-40B4-BE49-F238E27FC236}">
                <a16:creationId xmlns:a16="http://schemas.microsoft.com/office/drawing/2014/main" id="{FC8BC6D8-BEA7-4EBB-A89E-A5FAE617567E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Evolución documentada en 6 etapas: interfaz, Aduana, SAG, autoatención, reportes y seguridad.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0E74EBD-273A-4C4E-BD2C-A53A4571C602}"/>
              </a:ext>
            </a:extLst>
          </p:cNvPr>
          <p:cNvSpPr>
            <a:spLocks noGrp="1"/>
          </p:cNvSpPr>
          <p:nvPr/>
        </p:nvSpPr>
        <p:spPr>
          <a:xfrm>
            <a:off x="6143625" y="3209925"/>
            <a:ext cx="4953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ubric-item-4">
            <a:extLst>
              <a:ext uri="{FF2B5EF4-FFF2-40B4-BE49-F238E27FC236}">
                <a16:creationId xmlns:a16="http://schemas.microsoft.com/office/drawing/2014/main" id="{B7DD8EE2-C10B-4B41-8834-DFB3D6EEA06D}"/>
              </a:ext>
            </a:extLst>
          </p:cNvPr>
          <p:cNvSpPr>
            <a:spLocks noGrp="1"/>
          </p:cNvSpPr>
          <p:nvPr/>
        </p:nvSpPr>
        <p:spPr>
          <a:xfrm>
            <a:off x="6353175" y="33813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Prototipo funcional</a:t>
            </a:r>
          </a:p>
        </p:txBody>
      </p:sp>
      <p:sp>
        <p:nvSpPr>
          <p:cNvPr id="16" name="rubric-body-4">
            <a:extLst>
              <a:ext uri="{FF2B5EF4-FFF2-40B4-BE49-F238E27FC236}">
                <a16:creationId xmlns:a16="http://schemas.microsoft.com/office/drawing/2014/main" id="{8697B643-9277-4C3F-ACAF-9A6D6BA30558}"/>
              </a:ext>
            </a:extLst>
          </p:cNvPr>
          <p:cNvSpPr>
            <a:spLocks noGrp="1"/>
          </p:cNvSpPr>
          <p:nvPr/>
        </p:nvSpPr>
        <p:spPr>
          <a:xfrm>
            <a:off x="6353175" y="36861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Módulos navegables con datos mock/localStorage, reglas de negocio y comprobantes imprimibles.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2633253-8916-4B24-91FF-4B70C9925E3C}"/>
              </a:ext>
            </a:extLst>
          </p:cNvPr>
          <p:cNvSpPr>
            <a:spLocks noGrp="1"/>
          </p:cNvSpPr>
          <p:nvPr/>
        </p:nvSpPr>
        <p:spPr>
          <a:xfrm>
            <a:off x="666750" y="4467225"/>
            <a:ext cx="4953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ubric-item-5">
            <a:extLst>
              <a:ext uri="{FF2B5EF4-FFF2-40B4-BE49-F238E27FC236}">
                <a16:creationId xmlns:a16="http://schemas.microsoft.com/office/drawing/2014/main" id="{F7D0FD70-917B-4325-B334-8629009C6CF7}"/>
              </a:ext>
            </a:extLst>
          </p:cNvPr>
          <p:cNvSpPr>
            <a:spLocks noGrp="1"/>
          </p:cNvSpPr>
          <p:nvPr/>
        </p:nvSpPr>
        <p:spPr>
          <a:xfrm>
            <a:off x="876300" y="46386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Pruebas y calidad</a:t>
            </a:r>
          </a:p>
        </p:txBody>
      </p:sp>
      <p:sp>
        <p:nvSpPr>
          <p:cNvPr id="19" name="rubric-body-5">
            <a:extLst>
              <a:ext uri="{FF2B5EF4-FFF2-40B4-BE49-F238E27FC236}">
                <a16:creationId xmlns:a16="http://schemas.microsoft.com/office/drawing/2014/main" id="{19B4DF07-FEFD-41C7-9A60-FD16D48DBDF6}"/>
              </a:ext>
            </a:extLst>
          </p:cNvPr>
          <p:cNvSpPr>
            <a:spLocks noGrp="1"/>
          </p:cNvSpPr>
          <p:nvPr/>
        </p:nvSpPr>
        <p:spPr>
          <a:xfrm>
            <a:off x="876300" y="49434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Plan basado en ISO 25000 / ISO 9126, con casos funcionales, usabilidad, seguridad y compatibilidad.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779D5CE-B40A-40B2-A831-B00785B84DD9}"/>
              </a:ext>
            </a:extLst>
          </p:cNvPr>
          <p:cNvSpPr>
            <a:spLocks noGrp="1"/>
          </p:cNvSpPr>
          <p:nvPr/>
        </p:nvSpPr>
        <p:spPr>
          <a:xfrm>
            <a:off x="6143625" y="4467225"/>
            <a:ext cx="49530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ubric-item-6">
            <a:extLst>
              <a:ext uri="{FF2B5EF4-FFF2-40B4-BE49-F238E27FC236}">
                <a16:creationId xmlns:a16="http://schemas.microsoft.com/office/drawing/2014/main" id="{74DFF794-2DF0-4F15-9EF9-DBDFB6FF265A}"/>
              </a:ext>
            </a:extLst>
          </p:cNvPr>
          <p:cNvSpPr>
            <a:spLocks noGrp="1"/>
          </p:cNvSpPr>
          <p:nvPr/>
        </p:nvSpPr>
        <p:spPr>
          <a:xfrm>
            <a:off x="6353175" y="4638675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Control de cambios</a:t>
            </a:r>
          </a:p>
        </p:txBody>
      </p:sp>
      <p:sp>
        <p:nvSpPr>
          <p:cNvPr id="22" name="rubric-body-6">
            <a:extLst>
              <a:ext uri="{FF2B5EF4-FFF2-40B4-BE49-F238E27FC236}">
                <a16:creationId xmlns:a16="http://schemas.microsoft.com/office/drawing/2014/main" id="{34592215-85B0-4796-BF1B-C16F627136CE}"/>
              </a:ext>
            </a:extLst>
          </p:cNvPr>
          <p:cNvSpPr>
            <a:spLocks noGrp="1"/>
          </p:cNvSpPr>
          <p:nvPr/>
        </p:nvSpPr>
        <p:spPr>
          <a:xfrm>
            <a:off x="6353175" y="49434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Registro de mejoras por versión y trazabilidad entre requisitos, pruebas y funcionalidades.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F9BB630-23E1-4AA5-BD85-2CD1322D6408}"/>
              </a:ext>
            </a:extLst>
          </p:cNvPr>
          <p:cNvSpPr>
            <a:spLocks noGrp="1"/>
          </p:cNvSpPr>
          <p:nvPr/>
        </p:nvSpPr>
        <p:spPr>
          <a:xfrm>
            <a:off x="7667625" y="685800"/>
            <a:ext cx="1333500" cy="4381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4" name="pill-Entrega 3">
            <a:extLst>
              <a:ext uri="{FF2B5EF4-FFF2-40B4-BE49-F238E27FC236}">
                <a16:creationId xmlns:a16="http://schemas.microsoft.com/office/drawing/2014/main" id="{B419C686-0C03-44F8-8612-ACC54B9FFAAE}"/>
              </a:ext>
            </a:extLst>
          </p:cNvPr>
          <p:cNvSpPr>
            <a:spLocks noGrp="1"/>
          </p:cNvSpPr>
          <p:nvPr/>
        </p:nvSpPr>
        <p:spPr>
          <a:xfrm>
            <a:off x="7858125" y="790575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Entrega 3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3B76D85D-D67E-444E-B2EF-2F6AABB24309}"/>
              </a:ext>
            </a:extLst>
          </p:cNvPr>
          <p:cNvSpPr>
            <a:spLocks noGrp="1"/>
          </p:cNvSpPr>
          <p:nvPr/>
        </p:nvSpPr>
        <p:spPr>
          <a:xfrm>
            <a:off x="9191625" y="685800"/>
            <a:ext cx="1524000" cy="4381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6" name="pill-Demo lista">
            <a:extLst>
              <a:ext uri="{FF2B5EF4-FFF2-40B4-BE49-F238E27FC236}">
                <a16:creationId xmlns:a16="http://schemas.microsoft.com/office/drawing/2014/main" id="{2F6607C8-2689-4B5B-9983-B786D2FE8F6A}"/>
              </a:ext>
            </a:extLst>
          </p:cNvPr>
          <p:cNvSpPr>
            <a:spLocks noGrp="1"/>
          </p:cNvSpPr>
          <p:nvPr/>
        </p:nvSpPr>
        <p:spPr>
          <a:xfrm>
            <a:off x="9382125" y="7905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Demo lista</a:t>
            </a:r>
          </a:p>
        </p:txBody>
      </p:sp>
    </p:spTree>
    <p:extLst>
      <p:ext uri="{BB962C8B-B14F-4D97-AF65-F5344CB8AC3E}">
        <p14:creationId xmlns:p14="http://schemas.microsoft.com/office/powerpoint/2010/main" val="112138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03DD6DE0-A63C-4DAD-8F15-C20CE7CD7D7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C5EABA-E5AB-4280-B843-4253ED2A679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Problema y objetivo de la solución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E7287BF-D042-43EF-A36F-596B95BA57D0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CB9762C-225B-48F3-B7BA-65F08AEBB044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02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78F8C6F-05D1-4C05-B811-4F8D2FD4D26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4953000" cy="4095750"/>
          </a:xfrm>
          <a:prstGeom prst="roundRect">
            <a:avLst>
              <a:gd name="adj" fmla="val 3721"/>
            </a:avLst>
          </a:prstGeom>
          <a:solidFill>
            <a:srgbClr val="102A50"/>
          </a:solidFill>
          <a:ln w="9525">
            <a:solidFill>
              <a:srgbClr val="244D7B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80399B2-505B-4BBC-BCDA-3BF62EB7D1D1}"/>
              </a:ext>
            </a:extLst>
          </p:cNvPr>
          <p:cNvSpPr>
            <a:spLocks noGrp="1"/>
          </p:cNvSpPr>
          <p:nvPr/>
        </p:nvSpPr>
        <p:spPr>
          <a:xfrm>
            <a:off x="895350" y="19526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Situación inicial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BF2AFDD-D4DD-4ED9-8D5A-A5294E5F66D0}"/>
              </a:ext>
            </a:extLst>
          </p:cNvPr>
          <p:cNvSpPr>
            <a:spLocks noGrp="1"/>
          </p:cNvSpPr>
          <p:nvPr/>
        </p:nvSpPr>
        <p:spPr>
          <a:xfrm>
            <a:off x="895350" y="2600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BCEABC-F5CF-4F7F-AE70-239E78EDDEB9}"/>
              </a:ext>
            </a:extLst>
          </p:cNvPr>
          <p:cNvSpPr>
            <a:spLocks noGrp="1"/>
          </p:cNvSpPr>
          <p:nvPr/>
        </p:nvSpPr>
        <p:spPr>
          <a:xfrm>
            <a:off x="1104900" y="2524125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Procesos manuales y duplicación de datos.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A578513-86EA-4798-821B-78368577C03E}"/>
              </a:ext>
            </a:extLst>
          </p:cNvPr>
          <p:cNvSpPr>
            <a:spLocks noGrp="1"/>
          </p:cNvSpPr>
          <p:nvPr/>
        </p:nvSpPr>
        <p:spPr>
          <a:xfrm>
            <a:off x="895350" y="3219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2C93D4B-80D7-4879-9D8C-A652D2B4145F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Largos tiempos de espera en pasos terrestres.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42383E0-C268-4BE0-A199-E40124DE29E4}"/>
              </a:ext>
            </a:extLst>
          </p:cNvPr>
          <p:cNvSpPr>
            <a:spLocks noGrp="1"/>
          </p:cNvSpPr>
          <p:nvPr/>
        </p:nvSpPr>
        <p:spPr>
          <a:xfrm>
            <a:off x="895350" y="3838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ECF3ABA-48CD-422F-8C5A-2AA47D3A37EB}"/>
              </a:ext>
            </a:extLst>
          </p:cNvPr>
          <p:cNvSpPr>
            <a:spLocks noGrp="1"/>
          </p:cNvSpPr>
          <p:nvPr/>
        </p:nvSpPr>
        <p:spPr>
          <a:xfrm>
            <a:off x="1104900" y="3762375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Sistemas separados entre Aduanas, PDI y SAG.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10F4A37-EB96-4279-9645-8B4257F7BA91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8D7BDBC-1DAC-476B-8D85-FFF627142338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Baja trazabilidad de decisiones y rechazos.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14C7296-57F5-4805-A794-28AD6A23EF71}"/>
              </a:ext>
            </a:extLst>
          </p:cNvPr>
          <p:cNvSpPr>
            <a:spLocks noGrp="1"/>
          </p:cNvSpPr>
          <p:nvPr/>
        </p:nvSpPr>
        <p:spPr>
          <a:xfrm>
            <a:off x="5962650" y="1695450"/>
            <a:ext cx="56197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7EC9650-5228-4797-B097-7087DF576949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E3A8A"/>
                </a:solidFill>
              </a:defRPr>
            </a:pPr>
            <a:r>
              <a:rPr sz="1875" b="1">
                <a:solidFill>
                  <a:srgbClr val="1E3A8A"/>
                </a:solidFill>
              </a:rPr>
              <a:t>Objetivo SIGA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D89BC1-96B6-4C70-A7AE-051B6301D485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4762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Unificar y automatizar el control fronterizo mediante una experiencia clara, trazable y preparada para integrar organismos externos.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5A33AD4-4A45-478F-B9EE-4192A63B3D2F}"/>
              </a:ext>
            </a:extLst>
          </p:cNvPr>
          <p:cNvSpPr>
            <a:spLocks noGrp="1"/>
          </p:cNvSpPr>
          <p:nvPr/>
        </p:nvSpPr>
        <p:spPr>
          <a:xfrm>
            <a:off x="6286500" y="38576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Resultado esperado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E87C1B7-766C-4DAA-8889-4085D2934BCF}"/>
              </a:ext>
            </a:extLst>
          </p:cNvPr>
          <p:cNvSpPr>
            <a:spLocks noGrp="1"/>
          </p:cNvSpPr>
          <p:nvPr/>
        </p:nvSpPr>
        <p:spPr>
          <a:xfrm>
            <a:off x="6286500" y="4286250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E3A8A"/>
                </a:solidFill>
              </a:defRPr>
            </a:pPr>
            <a:r>
              <a:rPr sz="2025" b="1">
                <a:solidFill>
                  <a:srgbClr val="1E3A8A"/>
                </a:solidFill>
              </a:rPr>
              <a:t>Menos espera · menos errores · mejor fiscalización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7201E9D-0EBA-4F31-A1F8-7B2EB7FBE155}"/>
              </a:ext>
            </a:extLst>
          </p:cNvPr>
          <p:cNvSpPr>
            <a:spLocks noGrp="1"/>
          </p:cNvSpPr>
          <p:nvPr/>
        </p:nvSpPr>
        <p:spPr>
          <a:xfrm>
            <a:off x="6286500" y="51911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El prototipo simula las integraciones sin utilizar datos reales ni backend.</a:t>
            </a:r>
          </a:p>
        </p:txBody>
      </p:sp>
    </p:spTree>
    <p:extLst>
      <p:ext uri="{BB962C8B-B14F-4D97-AF65-F5344CB8AC3E}">
        <p14:creationId xmlns:p14="http://schemas.microsoft.com/office/powerpoint/2010/main" val="81758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27108B47-02E1-4B49-83F3-85EB10199B4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1FE167-DAD6-4836-A05B-C11C86A7FBB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Alcance funcional y actores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ABA350-3A98-4B7B-877F-80F9F54F4F23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E8984AD-5510-4049-870E-E90EE96725C4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03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269FA2A-D97B-4C7B-B574-508105A70BF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457450" cy="1200150"/>
          </a:xfrm>
          <a:prstGeom prst="roundRect">
            <a:avLst>
              <a:gd name="adj" fmla="val 9524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2283AC-17BA-469A-8169-7F64FAE7A5C4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006FB69-E234-45E2-8B99-B2D03DEE7C8F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Vehículos, permisos y plazos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8DC801E-5FBF-48F1-849E-2187AE228F04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457450" cy="1200150"/>
          </a:xfrm>
          <a:prstGeom prst="roundRect">
            <a:avLst>
              <a:gd name="adj" fmla="val 9524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E16F98-5AE2-4D18-951B-6D6FB7206E3C}"/>
              </a:ext>
            </a:extLst>
          </p:cNvPr>
          <p:cNvSpPr>
            <a:spLocks noGrp="1"/>
          </p:cNvSpPr>
          <p:nvPr/>
        </p:nvSpPr>
        <p:spPr>
          <a:xfrm>
            <a:off x="3543300" y="20193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PDI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E20980-6060-4272-AFBA-56ED9B1A50D3}"/>
              </a:ext>
            </a:extLst>
          </p:cNvPr>
          <p:cNvSpPr>
            <a:spLocks noGrp="1"/>
          </p:cNvSpPr>
          <p:nvPr/>
        </p:nvSpPr>
        <p:spPr>
          <a:xfrm>
            <a:off x="3543300" y="2428875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Identidad y autorización de menores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4CD93C4-D0ED-41A1-B205-FAB1E0CD45F2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2457450" cy="1200150"/>
          </a:xfrm>
          <a:prstGeom prst="roundRect">
            <a:avLst>
              <a:gd name="adj" fmla="val 9524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D4E79B-420A-4512-8DBB-3359F0E5E439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BE00BB4-4D12-4009-BEB0-E23439F03D11}"/>
              </a:ext>
            </a:extLst>
          </p:cNvPr>
          <p:cNvSpPr>
            <a:spLocks noGrp="1"/>
          </p:cNvSpPr>
          <p:nvPr/>
        </p:nvSpPr>
        <p:spPr>
          <a:xfrm>
            <a:off x="6286500" y="2428875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Declaraciones e inspecciones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3BD17BC-D16F-42A3-9AA0-58FD248E16D5}"/>
              </a:ext>
            </a:extLst>
          </p:cNvPr>
          <p:cNvSpPr>
            <a:spLocks noGrp="1"/>
          </p:cNvSpPr>
          <p:nvPr/>
        </p:nvSpPr>
        <p:spPr>
          <a:xfrm>
            <a:off x="8839200" y="1809750"/>
            <a:ext cx="2457450" cy="1200150"/>
          </a:xfrm>
          <a:prstGeom prst="roundRect">
            <a:avLst>
              <a:gd name="adj" fmla="val 9524"/>
            </a:avLst>
          </a:prstGeom>
          <a:solidFill>
            <a:srgbClr val="173E7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AEE4AA-DE6C-4931-88BF-45B87B945498}"/>
              </a:ext>
            </a:extLst>
          </p:cNvPr>
          <p:cNvSpPr>
            <a:spLocks noGrp="1"/>
          </p:cNvSpPr>
          <p:nvPr/>
        </p:nvSpPr>
        <p:spPr>
          <a:xfrm>
            <a:off x="9029700" y="20193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Administrador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7CAE50F-0A49-4D37-B10E-962E6E0B481B}"/>
              </a:ext>
            </a:extLst>
          </p:cNvPr>
          <p:cNvSpPr>
            <a:spLocks noGrp="1"/>
          </p:cNvSpPr>
          <p:nvPr/>
        </p:nvSpPr>
        <p:spPr>
          <a:xfrm>
            <a:off x="9029700" y="2428875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Auditoría, usuarios y reportes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1DEFFDC-ECA0-4172-BA9F-F58F18174384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Procesos cubiertos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DDBEEF1-9AB1-4AA4-8356-BDBC38746B68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C3851E0-7677-4BC0-AED3-FE0FEA0EA666}"/>
              </a:ext>
            </a:extLst>
          </p:cNvPr>
          <p:cNvSpPr>
            <a:spLocks noGrp="1"/>
          </p:cNvSpPr>
          <p:nvPr/>
        </p:nvSpPr>
        <p:spPr>
          <a:xfrm>
            <a:off x="752475" y="419100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Login y roles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FD5C1CF-602F-42BC-BDCF-54A8AD36E597}"/>
              </a:ext>
            </a:extLst>
          </p:cNvPr>
          <p:cNvSpPr>
            <a:spLocks noGrp="1"/>
          </p:cNvSpPr>
          <p:nvPr/>
        </p:nvSpPr>
        <p:spPr>
          <a:xfrm>
            <a:off x="3352800" y="404812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942AAE7-D6D6-47AB-BAF9-C60F2EF3B2DB}"/>
              </a:ext>
            </a:extLst>
          </p:cNvPr>
          <p:cNvSpPr>
            <a:spLocks noGrp="1"/>
          </p:cNvSpPr>
          <p:nvPr/>
        </p:nvSpPr>
        <p:spPr>
          <a:xfrm>
            <a:off x="3495675" y="419100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QR y LPR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0A2DCB02-550A-4280-9125-42DC34BB3DFD}"/>
              </a:ext>
            </a:extLst>
          </p:cNvPr>
          <p:cNvSpPr>
            <a:spLocks noGrp="1"/>
          </p:cNvSpPr>
          <p:nvPr/>
        </p:nvSpPr>
        <p:spPr>
          <a:xfrm>
            <a:off x="6096000" y="404812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7228A9C-D483-4B13-A820-46D8B3A113FF}"/>
              </a:ext>
            </a:extLst>
          </p:cNvPr>
          <p:cNvSpPr>
            <a:spLocks noGrp="1"/>
          </p:cNvSpPr>
          <p:nvPr/>
        </p:nvSpPr>
        <p:spPr>
          <a:xfrm>
            <a:off x="6238875" y="419100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Reglas 180/90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1B24A9A-8C3D-4930-8882-0172CF040727}"/>
              </a:ext>
            </a:extLst>
          </p:cNvPr>
          <p:cNvSpPr>
            <a:spLocks noGrp="1"/>
          </p:cNvSpPr>
          <p:nvPr/>
        </p:nvSpPr>
        <p:spPr>
          <a:xfrm>
            <a:off x="8839200" y="404812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C381EFD-26DE-409F-AACB-4D95F3061D97}"/>
              </a:ext>
            </a:extLst>
          </p:cNvPr>
          <p:cNvSpPr>
            <a:spLocks noGrp="1"/>
          </p:cNvSpPr>
          <p:nvPr/>
        </p:nvSpPr>
        <p:spPr>
          <a:xfrm>
            <a:off x="8982075" y="419100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Impresión dual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967113F3-89BD-43D7-9941-04A11EFEB507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0BA6A64-4796-4F3A-B623-46D2E0E482AB}"/>
              </a:ext>
            </a:extLst>
          </p:cNvPr>
          <p:cNvSpPr>
            <a:spLocks noGrp="1"/>
          </p:cNvSpPr>
          <p:nvPr/>
        </p:nvSpPr>
        <p:spPr>
          <a:xfrm>
            <a:off x="752475" y="4933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Declaración SAG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2ECDB48-4AA5-4832-A5C1-4CF22859FCDF}"/>
              </a:ext>
            </a:extLst>
          </p:cNvPr>
          <p:cNvSpPr>
            <a:spLocks noGrp="1"/>
          </p:cNvSpPr>
          <p:nvPr/>
        </p:nvSpPr>
        <p:spPr>
          <a:xfrm>
            <a:off x="3352800" y="479107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8344E16-669A-4F6D-B178-8963E324A241}"/>
              </a:ext>
            </a:extLst>
          </p:cNvPr>
          <p:cNvSpPr>
            <a:spLocks noGrp="1"/>
          </p:cNvSpPr>
          <p:nvPr/>
        </p:nvSpPr>
        <p:spPr>
          <a:xfrm>
            <a:off x="3495675" y="4933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Tótem de pasajeros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0AFF3CC6-F988-4219-8E8E-9E792BE147F8}"/>
              </a:ext>
            </a:extLst>
          </p:cNvPr>
          <p:cNvSpPr>
            <a:spLocks noGrp="1"/>
          </p:cNvSpPr>
          <p:nvPr/>
        </p:nvSpPr>
        <p:spPr>
          <a:xfrm>
            <a:off x="6096000" y="479107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11E8409-68E8-4425-B2F6-4F0F3A49BD08}"/>
              </a:ext>
            </a:extLst>
          </p:cNvPr>
          <p:cNvSpPr>
            <a:spLocks noGrp="1"/>
          </p:cNvSpPr>
          <p:nvPr/>
        </p:nvSpPr>
        <p:spPr>
          <a:xfrm>
            <a:off x="6238875" y="4933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Auditoría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0F6D27B0-4010-4DE4-A73D-8A31E6CCBFBA}"/>
              </a:ext>
            </a:extLst>
          </p:cNvPr>
          <p:cNvSpPr>
            <a:spLocks noGrp="1"/>
          </p:cNvSpPr>
          <p:nvPr/>
        </p:nvSpPr>
        <p:spPr>
          <a:xfrm>
            <a:off x="8839200" y="4791075"/>
            <a:ext cx="2457450" cy="533400"/>
          </a:xfrm>
          <a:prstGeom prst="roundRect">
            <a:avLst>
              <a:gd name="adj" fmla="val 14286"/>
            </a:avLst>
          </a:prstGeom>
          <a:solidFill>
            <a:srgbClr val="15345F"/>
          </a:solidFill>
          <a:ln w="0">
            <a:noFill/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86E7BE9-C3FB-4A04-83BD-8664DE382847}"/>
              </a:ext>
            </a:extLst>
          </p:cNvPr>
          <p:cNvSpPr>
            <a:spLocks noGrp="1"/>
          </p:cNvSpPr>
          <p:nvPr/>
        </p:nvSpPr>
        <p:spPr>
          <a:xfrm>
            <a:off x="8982075" y="4933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CSV y PDF</a:t>
            </a:r>
          </a:p>
        </p:txBody>
      </p:sp>
    </p:spTree>
    <p:extLst>
      <p:ext uri="{BB962C8B-B14F-4D97-AF65-F5344CB8AC3E}">
        <p14:creationId xmlns:p14="http://schemas.microsoft.com/office/powerpoint/2010/main" val="196691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9ECBFFE1-8CE8-4903-AD8F-8414D10F94A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E42F16-A680-47BC-A1F2-974D0B5DF69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Seis iteraciones desde el MVP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3890C6-08AE-4078-A784-202CC6D785C2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918CC4F-9D95-4E3F-B23A-294D43E901C2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3BC939-2AE9-48B2-AC86-33D155DF10A4}"/>
              </a:ext>
            </a:extLst>
          </p:cNvPr>
          <p:cNvSpPr>
            <a:spLocks noGrp="1"/>
          </p:cNvSpPr>
          <p:nvPr/>
        </p:nvSpPr>
        <p:spPr>
          <a:xfrm>
            <a:off x="1000125" y="3114675"/>
            <a:ext cx="9906000" cy="57150"/>
          </a:xfrm>
          <a:prstGeom prst="rect">
            <a:avLst/>
          </a:prstGeom>
          <a:solidFill>
            <a:srgbClr val="28568A"/>
          </a:solidFill>
          <a:ln w="0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A1591CF-C3E6-4E43-8494-B4ACEDFC3DE8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1571625" cy="876300"/>
          </a:xfrm>
          <a:prstGeom prst="roundRect">
            <a:avLst>
              <a:gd name="adj" fmla="val 1304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7DC0847-9EF8-4FD1-9408-2309474FD933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116C154-EC57-466E-BABA-12E4FE22FD65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Acceso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97DB299-9BEC-4907-889F-3F4F01D38B94}"/>
              </a:ext>
            </a:extLst>
          </p:cNvPr>
          <p:cNvSpPr>
            <a:spLocks noGrp="1"/>
          </p:cNvSpPr>
          <p:nvPr/>
        </p:nvSpPr>
        <p:spPr>
          <a:xfrm>
            <a:off x="123825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29344-5B6B-4247-A84E-F57C2AC29FD4}"/>
              </a:ext>
            </a:extLst>
          </p:cNvPr>
          <p:cNvSpPr>
            <a:spLocks noGrp="1"/>
          </p:cNvSpPr>
          <p:nvPr/>
        </p:nvSpPr>
        <p:spPr>
          <a:xfrm>
            <a:off x="1238250" y="30384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217C511-53F3-4CD9-9CB5-84265D19F547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16478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Login y panel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FBB0D6A-CA68-4DD5-9485-69CB7E72A594}"/>
              </a:ext>
            </a:extLst>
          </p:cNvPr>
          <p:cNvSpPr>
            <a:spLocks noGrp="1"/>
          </p:cNvSpPr>
          <p:nvPr/>
        </p:nvSpPr>
        <p:spPr>
          <a:xfrm>
            <a:off x="2552700" y="1981200"/>
            <a:ext cx="1571625" cy="876300"/>
          </a:xfrm>
          <a:prstGeom prst="roundRect">
            <a:avLst>
              <a:gd name="adj" fmla="val 1304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38F4014-999B-4744-8F7D-2D7F780C7337}"/>
              </a:ext>
            </a:extLst>
          </p:cNvPr>
          <p:cNvSpPr>
            <a:spLocks noGrp="1"/>
          </p:cNvSpPr>
          <p:nvPr/>
        </p:nvSpPr>
        <p:spPr>
          <a:xfrm>
            <a:off x="2705100" y="211455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BDB7663-25A4-4220-B7EB-47AC7A95269D}"/>
              </a:ext>
            </a:extLst>
          </p:cNvPr>
          <p:cNvSpPr>
            <a:spLocks noGrp="1"/>
          </p:cNvSpPr>
          <p:nvPr/>
        </p:nvSpPr>
        <p:spPr>
          <a:xfrm>
            <a:off x="2667000" y="2400300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B0EC0F1-05F8-4714-A8D7-38FF51BB91F1}"/>
              </a:ext>
            </a:extLst>
          </p:cNvPr>
          <p:cNvSpPr>
            <a:spLocks noGrp="1"/>
          </p:cNvSpPr>
          <p:nvPr/>
        </p:nvSpPr>
        <p:spPr>
          <a:xfrm>
            <a:off x="30861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EB93B39-DE92-4289-8586-BE2F6764C519}"/>
              </a:ext>
            </a:extLst>
          </p:cNvPr>
          <p:cNvSpPr>
            <a:spLocks noGrp="1"/>
          </p:cNvSpPr>
          <p:nvPr/>
        </p:nvSpPr>
        <p:spPr>
          <a:xfrm>
            <a:off x="3086100" y="30384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9F94DC-8AE2-4E34-AC39-521998F6A578}"/>
              </a:ext>
            </a:extLst>
          </p:cNvPr>
          <p:cNvSpPr>
            <a:spLocks noGrp="1"/>
          </p:cNvSpPr>
          <p:nvPr/>
        </p:nvSpPr>
        <p:spPr>
          <a:xfrm>
            <a:off x="2514600" y="3695700"/>
            <a:ext cx="16478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Tailwind y roles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F6562D6-6871-4ED2-90FB-EDBE6CEC8980}"/>
              </a:ext>
            </a:extLst>
          </p:cNvPr>
          <p:cNvSpPr>
            <a:spLocks noGrp="1"/>
          </p:cNvSpPr>
          <p:nvPr/>
        </p:nvSpPr>
        <p:spPr>
          <a:xfrm>
            <a:off x="4400550" y="1981200"/>
            <a:ext cx="1571625" cy="876300"/>
          </a:xfrm>
          <a:prstGeom prst="roundRect">
            <a:avLst>
              <a:gd name="adj" fmla="val 1304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3EB90A9-9596-4696-B4F9-710EFDECE204}"/>
              </a:ext>
            </a:extLst>
          </p:cNvPr>
          <p:cNvSpPr>
            <a:spLocks noGrp="1"/>
          </p:cNvSpPr>
          <p:nvPr/>
        </p:nvSpPr>
        <p:spPr>
          <a:xfrm>
            <a:off x="4552950" y="211455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7AC8FEB-8D62-4818-B4E6-516A71A8CF77}"/>
              </a:ext>
            </a:extLst>
          </p:cNvPr>
          <p:cNvSpPr>
            <a:spLocks noGrp="1"/>
          </p:cNvSpPr>
          <p:nvPr/>
        </p:nvSpPr>
        <p:spPr>
          <a:xfrm>
            <a:off x="4514850" y="2400300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Aduana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245A4521-3CAC-42B9-A1E5-EF529885A6C4}"/>
              </a:ext>
            </a:extLst>
          </p:cNvPr>
          <p:cNvSpPr>
            <a:spLocks noGrp="1"/>
          </p:cNvSpPr>
          <p:nvPr/>
        </p:nvSpPr>
        <p:spPr>
          <a:xfrm>
            <a:off x="493395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DE35A97-D3AE-4AE7-A26A-353447CEC6A4}"/>
              </a:ext>
            </a:extLst>
          </p:cNvPr>
          <p:cNvSpPr>
            <a:spLocks noGrp="1"/>
          </p:cNvSpPr>
          <p:nvPr/>
        </p:nvSpPr>
        <p:spPr>
          <a:xfrm>
            <a:off x="4933950" y="30384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1DC4C6B-9F56-4294-8F6F-6265C533F899}"/>
              </a:ext>
            </a:extLst>
          </p:cNvPr>
          <p:cNvSpPr>
            <a:spLocks noGrp="1"/>
          </p:cNvSpPr>
          <p:nvPr/>
        </p:nvSpPr>
        <p:spPr>
          <a:xfrm>
            <a:off x="4362450" y="3695700"/>
            <a:ext cx="16478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QR, LPR, 180/90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BB2A35E-0F13-42EB-B7BA-73E57AE12859}"/>
              </a:ext>
            </a:extLst>
          </p:cNvPr>
          <p:cNvSpPr>
            <a:spLocks noGrp="1"/>
          </p:cNvSpPr>
          <p:nvPr/>
        </p:nvSpPr>
        <p:spPr>
          <a:xfrm>
            <a:off x="6248400" y="1981200"/>
            <a:ext cx="1571625" cy="876300"/>
          </a:xfrm>
          <a:prstGeom prst="roundRect">
            <a:avLst>
              <a:gd name="adj" fmla="val 1304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111E987-CDBF-4A3F-B7E8-C898874C2143}"/>
              </a:ext>
            </a:extLst>
          </p:cNvPr>
          <p:cNvSpPr>
            <a:spLocks noGrp="1"/>
          </p:cNvSpPr>
          <p:nvPr/>
        </p:nvSpPr>
        <p:spPr>
          <a:xfrm>
            <a:off x="6400800" y="211455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v0.4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6247FE9-8209-4DD1-9295-15F3B57FE9D3}"/>
              </a:ext>
            </a:extLst>
          </p:cNvPr>
          <p:cNvSpPr>
            <a:spLocks noGrp="1"/>
          </p:cNvSpPr>
          <p:nvPr/>
        </p:nvSpPr>
        <p:spPr>
          <a:xfrm>
            <a:off x="6362700" y="2400300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SAG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2DCBF16D-ADF5-4E9A-B210-6AD48FDA1D42}"/>
              </a:ext>
            </a:extLst>
          </p:cNvPr>
          <p:cNvSpPr>
            <a:spLocks noGrp="1"/>
          </p:cNvSpPr>
          <p:nvPr/>
        </p:nvSpPr>
        <p:spPr>
          <a:xfrm>
            <a:off x="67818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450243B-E75F-4E4E-9149-B355CABEDCEB}"/>
              </a:ext>
            </a:extLst>
          </p:cNvPr>
          <p:cNvSpPr>
            <a:spLocks noGrp="1"/>
          </p:cNvSpPr>
          <p:nvPr/>
        </p:nvSpPr>
        <p:spPr>
          <a:xfrm>
            <a:off x="6781800" y="30384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B3A64A4-52C5-4267-BA07-869EA7DC23E7}"/>
              </a:ext>
            </a:extLst>
          </p:cNvPr>
          <p:cNvSpPr>
            <a:spLocks noGrp="1"/>
          </p:cNvSpPr>
          <p:nvPr/>
        </p:nvSpPr>
        <p:spPr>
          <a:xfrm>
            <a:off x="6210300" y="3695700"/>
            <a:ext cx="16478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DJ y autoatención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C639DFDF-58C4-4874-B9F3-E5C047A50E5B}"/>
              </a:ext>
            </a:extLst>
          </p:cNvPr>
          <p:cNvSpPr>
            <a:spLocks noGrp="1"/>
          </p:cNvSpPr>
          <p:nvPr/>
        </p:nvSpPr>
        <p:spPr>
          <a:xfrm>
            <a:off x="8096250" y="1981200"/>
            <a:ext cx="1571625" cy="876300"/>
          </a:xfrm>
          <a:prstGeom prst="roundRect">
            <a:avLst>
              <a:gd name="adj" fmla="val 1304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DA1CA07-3449-4DD3-B7AD-48C90FBAB944}"/>
              </a:ext>
            </a:extLst>
          </p:cNvPr>
          <p:cNvSpPr>
            <a:spLocks noGrp="1"/>
          </p:cNvSpPr>
          <p:nvPr/>
        </p:nvSpPr>
        <p:spPr>
          <a:xfrm>
            <a:off x="8248650" y="211455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v0.5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656EFB5-B0D2-46BB-B03D-222F0ABDF37A}"/>
              </a:ext>
            </a:extLst>
          </p:cNvPr>
          <p:cNvSpPr>
            <a:spLocks noGrp="1"/>
          </p:cNvSpPr>
          <p:nvPr/>
        </p:nvSpPr>
        <p:spPr>
          <a:xfrm>
            <a:off x="8210550" y="2400300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DDF6476-D759-4762-901F-2D7E87B8C7CA}"/>
              </a:ext>
            </a:extLst>
          </p:cNvPr>
          <p:cNvSpPr>
            <a:spLocks noGrp="1"/>
          </p:cNvSpPr>
          <p:nvPr/>
        </p:nvSpPr>
        <p:spPr>
          <a:xfrm>
            <a:off x="862965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238E277-2D1A-437F-8E37-3B30A029ACE4}"/>
              </a:ext>
            </a:extLst>
          </p:cNvPr>
          <p:cNvSpPr>
            <a:spLocks noGrp="1"/>
          </p:cNvSpPr>
          <p:nvPr/>
        </p:nvSpPr>
        <p:spPr>
          <a:xfrm>
            <a:off x="8629650" y="30384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7C7669D-4756-4D2F-80A6-89B106E8FE7A}"/>
              </a:ext>
            </a:extLst>
          </p:cNvPr>
          <p:cNvSpPr>
            <a:spLocks noGrp="1"/>
          </p:cNvSpPr>
          <p:nvPr/>
        </p:nvSpPr>
        <p:spPr>
          <a:xfrm>
            <a:off x="8058150" y="3695700"/>
            <a:ext cx="16478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 y CSV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1E6478A3-7232-4A6F-B7AE-F9314130747B}"/>
              </a:ext>
            </a:extLst>
          </p:cNvPr>
          <p:cNvSpPr>
            <a:spLocks noGrp="1"/>
          </p:cNvSpPr>
          <p:nvPr/>
        </p:nvSpPr>
        <p:spPr>
          <a:xfrm>
            <a:off x="9944100" y="1981200"/>
            <a:ext cx="1571625" cy="876300"/>
          </a:xfrm>
          <a:prstGeom prst="roundRect">
            <a:avLst>
              <a:gd name="adj" fmla="val 1304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8832A1C-CB1E-4AF3-805B-7EC92863C330}"/>
              </a:ext>
            </a:extLst>
          </p:cNvPr>
          <p:cNvSpPr>
            <a:spLocks noGrp="1"/>
          </p:cNvSpPr>
          <p:nvPr/>
        </p:nvSpPr>
        <p:spPr>
          <a:xfrm>
            <a:off x="10096500" y="211455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v1.0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28C0CBD0-D5F5-4293-A699-E3B4E07E1D11}"/>
              </a:ext>
            </a:extLst>
          </p:cNvPr>
          <p:cNvSpPr>
            <a:spLocks noGrp="1"/>
          </p:cNvSpPr>
          <p:nvPr/>
        </p:nvSpPr>
        <p:spPr>
          <a:xfrm>
            <a:off x="10058400" y="2400300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Calidad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873E2FD3-3C5A-4906-8346-1732BFEE0131}"/>
              </a:ext>
            </a:extLst>
          </p:cNvPr>
          <p:cNvSpPr>
            <a:spLocks noGrp="1"/>
          </p:cNvSpPr>
          <p:nvPr/>
        </p:nvSpPr>
        <p:spPr>
          <a:xfrm>
            <a:off x="10477500" y="2933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661FC83-5CF0-4593-AE50-60D708D868EE}"/>
              </a:ext>
            </a:extLst>
          </p:cNvPr>
          <p:cNvSpPr>
            <a:spLocks noGrp="1"/>
          </p:cNvSpPr>
          <p:nvPr/>
        </p:nvSpPr>
        <p:spPr>
          <a:xfrm>
            <a:off x="10477500" y="3038475"/>
            <a:ext cx="495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C266D91-E893-406E-8AA3-4711742D4F52}"/>
              </a:ext>
            </a:extLst>
          </p:cNvPr>
          <p:cNvSpPr>
            <a:spLocks noGrp="1"/>
          </p:cNvSpPr>
          <p:nvPr/>
        </p:nvSpPr>
        <p:spPr>
          <a:xfrm>
            <a:off x="9906000" y="3695700"/>
            <a:ext cx="16478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Pruebas y cierre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AD4E6AF-A0A4-40A1-8C58-945932F71529}"/>
              </a:ext>
            </a:extLst>
          </p:cNvPr>
          <p:cNvSpPr>
            <a:spLocks noGrp="1"/>
          </p:cNvSpPr>
          <p:nvPr/>
        </p:nvSpPr>
        <p:spPr>
          <a:xfrm>
            <a:off x="1666875" y="50482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Cada etapa agrega valor verificable y deja evidencia en el control de cambios.</a:t>
            </a:r>
          </a:p>
        </p:txBody>
      </p:sp>
    </p:spTree>
    <p:extLst>
      <p:ext uri="{BB962C8B-B14F-4D97-AF65-F5344CB8AC3E}">
        <p14:creationId xmlns:p14="http://schemas.microsoft.com/office/powerpoint/2010/main" val="44858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0C55B7E-21A4-47DB-AB97-F095DAC29AE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CB45A1-CC69-4B85-9E95-6F56451BB7A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Resultado: panel operativo integrado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51EBEE-2826-4DC7-9868-D4A7780921CD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86F380B-0E70-47AC-9711-64D41E8F64E6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05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B7C6544-3732-4975-B7C3-C1E4C2C1293D}"/>
              </a:ext>
            </a:extLst>
          </p:cNvPr>
          <p:cNvSpPr>
            <a:spLocks noGrp="1"/>
          </p:cNvSpPr>
          <p:nvPr/>
        </p:nvSpPr>
        <p:spPr>
          <a:xfrm>
            <a:off x="542925" y="1590675"/>
            <a:ext cx="7467600" cy="4419600"/>
          </a:xfrm>
          <a:prstGeom prst="roundRect">
            <a:avLst>
              <a:gd name="adj" fmla="val 3448"/>
            </a:avLst>
          </a:prstGeom>
          <a:solidFill>
            <a:srgbClr val="102E58"/>
          </a:solidFill>
          <a:ln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rcRect l="1875" r="1875"/>
          <a:stretch>
            <a:fillRect/>
          </a:stretch>
        </p:blipFill>
        <p:spPr>
          <a:xfrm>
            <a:off x="609600" y="1657350"/>
            <a:ext cx="7334250" cy="4286250"/>
          </a:xfrm>
          <a:prstGeom prst="round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AFD9647-5A5D-4B6D-987F-22F8D950D56C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Visión unificada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4B941B3-A39F-4459-967D-735F394D87B5}"/>
              </a:ext>
            </a:extLst>
          </p:cNvPr>
          <p:cNvSpPr>
            <a:spLocks noGrp="1"/>
          </p:cNvSpPr>
          <p:nvPr/>
        </p:nvSpPr>
        <p:spPr>
          <a:xfrm>
            <a:off x="8477250" y="2457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8B2E27-2B7A-4532-8122-B2501EAAC11E}"/>
              </a:ext>
            </a:extLst>
          </p:cNvPr>
          <p:cNvSpPr>
            <a:spLocks noGrp="1"/>
          </p:cNvSpPr>
          <p:nvPr/>
        </p:nvSpPr>
        <p:spPr>
          <a:xfrm>
            <a:off x="8686800" y="2381250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por módulo.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86A7724-C603-4742-A300-3E11F875A033}"/>
              </a:ext>
            </a:extLst>
          </p:cNvPr>
          <p:cNvSpPr>
            <a:spLocks noGrp="1"/>
          </p:cNvSpPr>
          <p:nvPr/>
        </p:nvSpPr>
        <p:spPr>
          <a:xfrm>
            <a:off x="8477250" y="3076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557D0E3-F1C2-47E0-B8BD-F7BD131E60B5}"/>
              </a:ext>
            </a:extLst>
          </p:cNvPr>
          <p:cNvSpPr>
            <a:spLocks noGrp="1"/>
          </p:cNvSpPr>
          <p:nvPr/>
        </p:nvSpPr>
        <p:spPr>
          <a:xfrm>
            <a:off x="8686800" y="3000375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Actividad reciente y estados.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8E0F194-3706-4B71-8C12-9173FBC06F20}"/>
              </a:ext>
            </a:extLst>
          </p:cNvPr>
          <p:cNvSpPr>
            <a:spLocks noGrp="1"/>
          </p:cNvSpPr>
          <p:nvPr/>
        </p:nvSpPr>
        <p:spPr>
          <a:xfrm>
            <a:off x="8477250" y="3695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36AD0A3-1F80-4CE8-BF9C-B48E562196E5}"/>
              </a:ext>
            </a:extLst>
          </p:cNvPr>
          <p:cNvSpPr>
            <a:spLocks noGrp="1"/>
          </p:cNvSpPr>
          <p:nvPr/>
        </p:nvSpPr>
        <p:spPr>
          <a:xfrm>
            <a:off x="8686800" y="3619500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Navegación según el rol.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D7FEE15-59B6-4BA5-849C-A8AA640163D3}"/>
              </a:ext>
            </a:extLst>
          </p:cNvPr>
          <p:cNvSpPr>
            <a:spLocks noGrp="1"/>
          </p:cNvSpPr>
          <p:nvPr/>
        </p:nvSpPr>
        <p:spPr>
          <a:xfrm>
            <a:off x="8477250" y="4314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778EB21-CDB2-4D5A-B63F-C81FCA0812EB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552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Persistencia entre sesiones.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F0BAC7BF-376A-4CAA-A677-870C85FC3922}"/>
              </a:ext>
            </a:extLst>
          </p:cNvPr>
          <p:cNvSpPr>
            <a:spLocks noGrp="1"/>
          </p:cNvSpPr>
          <p:nvPr/>
        </p:nvSpPr>
        <p:spPr>
          <a:xfrm>
            <a:off x="8477250" y="5095875"/>
            <a:ext cx="2762250" cy="685800"/>
          </a:xfrm>
          <a:prstGeom prst="roundRect">
            <a:avLst>
              <a:gd name="adj" fmla="val 16667"/>
            </a:avLst>
          </a:prstGeom>
          <a:solidFill>
            <a:srgbClr val="133B6C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C126E5-DB5E-4DAC-B030-A3107D86E289}"/>
              </a:ext>
            </a:extLst>
          </p:cNvPr>
          <p:cNvSpPr>
            <a:spLocks noGrp="1"/>
          </p:cNvSpPr>
          <p:nvPr/>
        </p:nvSpPr>
        <p:spPr>
          <a:xfrm>
            <a:off x="8667750" y="52197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Información accionable</a:t>
            </a:r>
          </a:p>
          <a:p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en una sola pantalla</a:t>
            </a:r>
          </a:p>
        </p:txBody>
      </p:sp>
    </p:spTree>
    <p:extLst>
      <p:ext uri="{BB962C8B-B14F-4D97-AF65-F5344CB8AC3E}">
        <p14:creationId xmlns:p14="http://schemas.microsoft.com/office/powerpoint/2010/main" val="154126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D3FE738-EE57-433C-B52E-A4F7E96FB1A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E24E44-EDD8-4CBB-91FC-9D0C4313FB3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vehicular: reglas y evidencia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42A401-63EA-4154-A19D-D2AED0412104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9316D26-8734-414D-B687-7165FE285B84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06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60DCDEA-9950-4867-80B0-334048B1868B}"/>
              </a:ext>
            </a:extLst>
          </p:cNvPr>
          <p:cNvSpPr>
            <a:spLocks noGrp="1"/>
          </p:cNvSpPr>
          <p:nvPr/>
        </p:nvSpPr>
        <p:spPr>
          <a:xfrm>
            <a:off x="542925" y="1590675"/>
            <a:ext cx="7372350" cy="4419600"/>
          </a:xfrm>
          <a:prstGeom prst="roundRect">
            <a:avLst>
              <a:gd name="adj" fmla="val 3448"/>
            </a:avLst>
          </a:prstGeom>
          <a:solidFill>
            <a:srgbClr val="102E58"/>
          </a:solidFill>
          <a:ln w="9525">
            <a:solidFill>
              <a:srgbClr val="28568A"/>
            </a:solidFill>
            <a:prstDash val="solid"/>
          </a:ln>
        </p:spPr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rcRect l="2500" r="2500"/>
          <a:stretch>
            <a:fillRect/>
          </a:stretch>
        </p:blipFill>
        <p:spPr>
          <a:xfrm>
            <a:off x="609600" y="1657350"/>
            <a:ext cx="7239000" cy="4286250"/>
          </a:xfrm>
          <a:prstGeom prst="round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95A5870-27F6-4C58-8133-59B0008670E3}"/>
              </a:ext>
            </a:extLst>
          </p:cNvPr>
          <p:cNvSpPr>
            <a:spLocks noGrp="1"/>
          </p:cNvSpPr>
          <p:nvPr/>
        </p:nvSpPr>
        <p:spPr>
          <a:xfrm>
            <a:off x="8334375" y="17907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Automatización crítica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70FAED2-6011-4AB8-B077-84B36CDE15BE}"/>
              </a:ext>
            </a:extLst>
          </p:cNvPr>
          <p:cNvSpPr>
            <a:spLocks noGrp="1"/>
          </p:cNvSpPr>
          <p:nvPr/>
        </p:nvSpPr>
        <p:spPr>
          <a:xfrm>
            <a:off x="8334375" y="2409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730BA2-3E39-4F2D-974C-583B1B129002}"/>
              </a:ext>
            </a:extLst>
          </p:cNvPr>
          <p:cNvSpPr>
            <a:spLocks noGrp="1"/>
          </p:cNvSpPr>
          <p:nvPr/>
        </p:nvSpPr>
        <p:spPr>
          <a:xfrm>
            <a:off x="8543925" y="2333625"/>
            <a:ext cx="2695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Lectura QR simulada.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8512278-03E7-490E-A06D-C9F3428AFF42}"/>
              </a:ext>
            </a:extLst>
          </p:cNvPr>
          <p:cNvSpPr>
            <a:spLocks noGrp="1"/>
          </p:cNvSpPr>
          <p:nvPr/>
        </p:nvSpPr>
        <p:spPr>
          <a:xfrm>
            <a:off x="8334375" y="2962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ECC9A2-7F64-4827-9507-5C9CD2E47F0A}"/>
              </a:ext>
            </a:extLst>
          </p:cNvPr>
          <p:cNvSpPr>
            <a:spLocks noGrp="1"/>
          </p:cNvSpPr>
          <p:nvPr/>
        </p:nvSpPr>
        <p:spPr>
          <a:xfrm>
            <a:off x="8543925" y="2886075"/>
            <a:ext cx="2695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Patente mediante LPR.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879C8A4-E38E-4366-AD06-DC6FF898A319}"/>
              </a:ext>
            </a:extLst>
          </p:cNvPr>
          <p:cNvSpPr>
            <a:spLocks noGrp="1"/>
          </p:cNvSpPr>
          <p:nvPr/>
        </p:nvSpPr>
        <p:spPr>
          <a:xfrm>
            <a:off x="8334375" y="3514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93A4BE8-1C3B-4A55-8F59-57B8989811C4}"/>
              </a:ext>
            </a:extLst>
          </p:cNvPr>
          <p:cNvSpPr>
            <a:spLocks noGrp="1"/>
          </p:cNvSpPr>
          <p:nvPr/>
        </p:nvSpPr>
        <p:spPr>
          <a:xfrm>
            <a:off x="8543925" y="3438525"/>
            <a:ext cx="2695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180 días: particulares.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8C93A4F-9D9D-4076-BFFA-93CA7C6419B4}"/>
              </a:ext>
            </a:extLst>
          </p:cNvPr>
          <p:cNvSpPr>
            <a:spLocks noGrp="1"/>
          </p:cNvSpPr>
          <p:nvPr/>
        </p:nvSpPr>
        <p:spPr>
          <a:xfrm>
            <a:off x="8334375" y="4067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45C11A9-8183-4233-8394-96A2767395E5}"/>
              </a:ext>
            </a:extLst>
          </p:cNvPr>
          <p:cNvSpPr>
            <a:spLocks noGrp="1"/>
          </p:cNvSpPr>
          <p:nvPr/>
        </p:nvSpPr>
        <p:spPr>
          <a:xfrm>
            <a:off x="8543925" y="3990975"/>
            <a:ext cx="2695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90 días: diplomáticos.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DF46E8D-89E1-4B99-9AEF-9893C1AD70B1}"/>
              </a:ext>
            </a:extLst>
          </p:cNvPr>
          <p:cNvSpPr>
            <a:spLocks noGrp="1"/>
          </p:cNvSpPr>
          <p:nvPr/>
        </p:nvSpPr>
        <p:spPr>
          <a:xfrm>
            <a:off x="8334375" y="4619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66EA9C0-4B74-4497-BA0C-7F0B800F1AB8}"/>
              </a:ext>
            </a:extLst>
          </p:cNvPr>
          <p:cNvSpPr>
            <a:spLocks noGrp="1"/>
          </p:cNvSpPr>
          <p:nvPr/>
        </p:nvSpPr>
        <p:spPr>
          <a:xfrm>
            <a:off x="8543925" y="4543425"/>
            <a:ext cx="26955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Dos copias físicas obligatorias.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796664B-5ED1-41B3-92A6-2B145309C857}"/>
              </a:ext>
            </a:extLst>
          </p:cNvPr>
          <p:cNvSpPr>
            <a:spLocks noGrp="1"/>
          </p:cNvSpPr>
          <p:nvPr/>
        </p:nvSpPr>
        <p:spPr>
          <a:xfrm>
            <a:off x="8334375" y="5267325"/>
            <a:ext cx="2952750" cy="533400"/>
          </a:xfrm>
          <a:prstGeom prst="roundRect">
            <a:avLst>
              <a:gd name="adj" fmla="val 14286"/>
            </a:avLst>
          </a:prstGeom>
          <a:solidFill>
            <a:srgbClr val="164574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25F391-A547-420B-8EB9-37E095EE55CB}"/>
              </a:ext>
            </a:extLst>
          </p:cNvPr>
          <p:cNvSpPr>
            <a:spLocks noGrp="1"/>
          </p:cNvSpPr>
          <p:nvPr/>
        </p:nvSpPr>
        <p:spPr>
          <a:xfrm>
            <a:off x="8477250" y="54102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Cálculo automático del vencimiento</a:t>
            </a:r>
          </a:p>
        </p:txBody>
      </p:sp>
    </p:spTree>
    <p:extLst>
      <p:ext uri="{BB962C8B-B14F-4D97-AF65-F5344CB8AC3E}">
        <p14:creationId xmlns:p14="http://schemas.microsoft.com/office/powerpoint/2010/main" val="109165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23F9551-CF71-4DF5-8DC4-17F85FEAB2A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C78271D-39E1-47B5-98CF-0267516D4BE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SAG y autoatención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CC422F-415A-4B92-BECB-D6995EB70571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F953C78-72DC-415F-963C-5B0EBE16D65A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07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03EE9DA-22E4-4BFC-8D36-0AB8844DF36A}"/>
              </a:ext>
            </a:extLst>
          </p:cNvPr>
          <p:cNvSpPr>
            <a:spLocks noGrp="1"/>
          </p:cNvSpPr>
          <p:nvPr/>
        </p:nvSpPr>
        <p:spPr>
          <a:xfrm>
            <a:off x="542925" y="1590675"/>
            <a:ext cx="6991350" cy="4419600"/>
          </a:xfrm>
          <a:prstGeom prst="roundRect">
            <a:avLst>
              <a:gd name="adj" fmla="val 3448"/>
            </a:avLst>
          </a:prstGeom>
          <a:solidFill>
            <a:srgbClr val="102E58"/>
          </a:solidFill>
          <a:ln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rcRect l="5000" r="5000"/>
          <a:stretch>
            <a:fillRect/>
          </a:stretch>
        </p:blipFill>
        <p:spPr>
          <a:xfrm>
            <a:off x="609600" y="1657350"/>
            <a:ext cx="6858000" cy="4286250"/>
          </a:xfrm>
          <a:prstGeom prst="round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5C50DC5-4D95-4A51-A50F-9648D4912485}"/>
              </a:ext>
            </a:extLst>
          </p:cNvPr>
          <p:cNvSpPr>
            <a:spLocks noGrp="1"/>
          </p:cNvSpPr>
          <p:nvPr/>
        </p:nvSpPr>
        <p:spPr>
          <a:xfrm>
            <a:off x="7905750" y="1657350"/>
            <a:ext cx="3676650" cy="1866900"/>
          </a:xfrm>
          <a:prstGeom prst="roundRect">
            <a:avLst>
              <a:gd name="adj" fmla="val 816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40AE90-491F-44B1-9939-198C7B2CFE09}"/>
              </a:ext>
            </a:extLst>
          </p:cNvPr>
          <p:cNvSpPr>
            <a:spLocks noGrp="1"/>
          </p:cNvSpPr>
          <p:nvPr/>
        </p:nvSpPr>
        <p:spPr>
          <a:xfrm>
            <a:off x="8172450" y="18859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Declaración SAG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9A8982D-AD98-4BD0-ADBA-C97174E99C66}"/>
              </a:ext>
            </a:extLst>
          </p:cNvPr>
          <p:cNvSpPr>
            <a:spLocks noGrp="1"/>
          </p:cNvSpPr>
          <p:nvPr/>
        </p:nvSpPr>
        <p:spPr>
          <a:xfrm>
            <a:off x="8172450" y="2381250"/>
            <a:ext cx="3048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DCEBFF"/>
                </a:solidFill>
              </a:defRPr>
            </a:pPr>
            <a:r>
              <a:rPr sz="1350" b="0">
                <a:solidFill>
                  <a:srgbClr val="DCEBFF"/>
                </a:solidFill>
              </a:rPr>
              <a:t>Una declaración positiva marca el caso como observado y lo deriva a inspección física.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2954FC6-31A9-458C-8AB8-797180963157}"/>
              </a:ext>
            </a:extLst>
          </p:cNvPr>
          <p:cNvSpPr>
            <a:spLocks noGrp="1"/>
          </p:cNvSpPr>
          <p:nvPr/>
        </p:nvSpPr>
        <p:spPr>
          <a:xfrm>
            <a:off x="7905750" y="3752850"/>
            <a:ext cx="3676650" cy="2190750"/>
          </a:xfrm>
          <a:prstGeom prst="roundRect">
            <a:avLst>
              <a:gd name="adj" fmla="val 6957"/>
            </a:avLst>
          </a:prstGeom>
          <a:solidFill>
            <a:srgbClr val="15345F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3DE1D17-D2C4-41E2-B064-0FF86FF78099}"/>
              </a:ext>
            </a:extLst>
          </p:cNvPr>
          <p:cNvSpPr>
            <a:spLocks noGrp="1"/>
          </p:cNvSpPr>
          <p:nvPr/>
        </p:nvSpPr>
        <p:spPr>
          <a:xfrm>
            <a:off x="8172450" y="4000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Tótem de pasajeros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8F1842C-D0D6-4C5E-BE1A-8E408AF0DFDC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D83EDF0-61BE-451B-8404-E82C372B8A3C}"/>
              </a:ext>
            </a:extLst>
          </p:cNvPr>
          <p:cNvSpPr>
            <a:spLocks noGrp="1"/>
          </p:cNvSpPr>
          <p:nvPr/>
        </p:nvSpPr>
        <p:spPr>
          <a:xfrm>
            <a:off x="8382000" y="447675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Registro previo a ventanilla.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B2BA263-DF74-428B-B929-9C4B3FF5A1E5}"/>
              </a:ext>
            </a:extLst>
          </p:cNvPr>
          <p:cNvSpPr>
            <a:spLocks noGrp="1"/>
          </p:cNvSpPr>
          <p:nvPr/>
        </p:nvSpPr>
        <p:spPr>
          <a:xfrm>
            <a:off x="8172450" y="504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6A6323-6F04-434B-BCF4-459325866389}"/>
              </a:ext>
            </a:extLst>
          </p:cNvPr>
          <p:cNvSpPr>
            <a:spLocks noGrp="1"/>
          </p:cNvSpPr>
          <p:nvPr/>
        </p:nvSpPr>
        <p:spPr>
          <a:xfrm>
            <a:off x="8382000" y="497205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Código de atención.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89CAE40-E944-4054-A15B-B903D020B803}"/>
              </a:ext>
            </a:extLst>
          </p:cNvPr>
          <p:cNvSpPr>
            <a:spLocks noGrp="1"/>
          </p:cNvSpPr>
          <p:nvPr/>
        </p:nvSpPr>
        <p:spPr>
          <a:xfrm>
            <a:off x="8172450" y="5543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CEA0FD0-22A6-4902-B965-529A045AA828}"/>
              </a:ext>
            </a:extLst>
          </p:cNvPr>
          <p:cNvSpPr>
            <a:spLocks noGrp="1"/>
          </p:cNvSpPr>
          <p:nvPr/>
        </p:nvSpPr>
        <p:spPr>
          <a:xfrm>
            <a:off x="8382000" y="546735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Menores: autorización obligatoria.</a:t>
            </a:r>
          </a:p>
        </p:txBody>
      </p:sp>
    </p:spTree>
    <p:extLst>
      <p:ext uri="{BB962C8B-B14F-4D97-AF65-F5344CB8AC3E}">
        <p14:creationId xmlns:p14="http://schemas.microsoft.com/office/powerpoint/2010/main" val="166394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402F0CA-80DF-4ED6-83A8-2283690A1AE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89ECA68-28F8-4C61-B107-29D35A50C89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Trazabilidad, indicadores y exportación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CD95292-7B62-4170-84CA-35750AA0E08B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7D4B2B-277B-4243-BF44-549D33F68737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08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9F8DFB0-D0D5-40D1-9182-88A14BF369C8}"/>
              </a:ext>
            </a:extLst>
          </p:cNvPr>
          <p:cNvSpPr>
            <a:spLocks noGrp="1"/>
          </p:cNvSpPr>
          <p:nvPr/>
        </p:nvSpPr>
        <p:spPr>
          <a:xfrm>
            <a:off x="542925" y="1590675"/>
            <a:ext cx="7277100" cy="4419600"/>
          </a:xfrm>
          <a:prstGeom prst="roundRect">
            <a:avLst>
              <a:gd name="adj" fmla="val 3448"/>
            </a:avLst>
          </a:prstGeom>
          <a:solidFill>
            <a:srgbClr val="102E58"/>
          </a:solidFill>
          <a:ln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rcRect l="3125" r="3125"/>
          <a:stretch>
            <a:fillRect/>
          </a:stretch>
        </p:blipFill>
        <p:spPr>
          <a:xfrm>
            <a:off x="609600" y="1657350"/>
            <a:ext cx="7143750" cy="4286250"/>
          </a:xfrm>
          <a:prstGeom prst="round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A04E57D-1DD2-47DF-B028-FE8B701E9F1F}"/>
              </a:ext>
            </a:extLst>
          </p:cNvPr>
          <p:cNvSpPr>
            <a:spLocks noGrp="1"/>
          </p:cNvSpPr>
          <p:nvPr/>
        </p:nvSpPr>
        <p:spPr>
          <a:xfrm>
            <a:off x="8210550" y="1790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Control de la operación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384EA4C-0EE7-4FF3-B32A-0B0C9E7755A7}"/>
              </a:ext>
            </a:extLst>
          </p:cNvPr>
          <p:cNvSpPr>
            <a:spLocks noGrp="1"/>
          </p:cNvSpPr>
          <p:nvPr/>
        </p:nvSpPr>
        <p:spPr>
          <a:xfrm>
            <a:off x="8210550" y="2457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9336D65-84B9-4538-8CCB-686F2324C667}"/>
              </a:ext>
            </a:extLst>
          </p:cNvPr>
          <p:cNvSpPr>
            <a:spLocks noGrp="1"/>
          </p:cNvSpPr>
          <p:nvPr/>
        </p:nvSpPr>
        <p:spPr>
          <a:xfrm>
            <a:off x="8420100" y="238125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Auditoría: usuario, fecha y acción.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ABFCC8-C584-4CBE-BA94-3B685FAB4028}"/>
              </a:ext>
            </a:extLst>
          </p:cNvPr>
          <p:cNvSpPr>
            <a:spLocks noGrp="1"/>
          </p:cNvSpPr>
          <p:nvPr/>
        </p:nvSpPr>
        <p:spPr>
          <a:xfrm>
            <a:off x="8210550" y="3076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59EC561-0E5D-44FF-B9D5-E75BF1E396D8}"/>
              </a:ext>
            </a:extLst>
          </p:cNvPr>
          <p:cNvSpPr>
            <a:spLocks noGrp="1"/>
          </p:cNvSpPr>
          <p:nvPr/>
        </p:nvSpPr>
        <p:spPr>
          <a:xfrm>
            <a:off x="8420100" y="3000375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de aprobación.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6075D66-3A7B-4FF4-A629-AB897C6CF7B6}"/>
              </a:ext>
            </a:extLst>
          </p:cNvPr>
          <p:cNvSpPr>
            <a:spLocks noGrp="1"/>
          </p:cNvSpPr>
          <p:nvPr/>
        </p:nvSpPr>
        <p:spPr>
          <a:xfrm>
            <a:off x="8210550" y="3695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0015BE2-9C44-4523-A966-E40EF0ABE60D}"/>
              </a:ext>
            </a:extLst>
          </p:cNvPr>
          <p:cNvSpPr>
            <a:spLocks noGrp="1"/>
          </p:cNvSpPr>
          <p:nvPr/>
        </p:nvSpPr>
        <p:spPr>
          <a:xfrm>
            <a:off x="8420100" y="361950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Exportación CSV.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B766D14-F804-4048-AA91-80107E4625B2}"/>
              </a:ext>
            </a:extLst>
          </p:cNvPr>
          <p:cNvSpPr>
            <a:spLocks noGrp="1"/>
          </p:cNvSpPr>
          <p:nvPr/>
        </p:nvSpPr>
        <p:spPr>
          <a:xfrm>
            <a:off x="8210550" y="4314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8EA1923-D866-4474-A4A2-4F3DE2162398}"/>
              </a:ext>
            </a:extLst>
          </p:cNvPr>
          <p:cNvSpPr>
            <a:spLocks noGrp="1"/>
          </p:cNvSpPr>
          <p:nvPr/>
        </p:nvSpPr>
        <p:spPr>
          <a:xfrm>
            <a:off x="8420100" y="4238625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Impresión / guardado PDF.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44F083E-0189-4945-A508-1AA8155A618C}"/>
              </a:ext>
            </a:extLst>
          </p:cNvPr>
          <p:cNvSpPr>
            <a:spLocks noGrp="1"/>
          </p:cNvSpPr>
          <p:nvPr/>
        </p:nvSpPr>
        <p:spPr>
          <a:xfrm>
            <a:off x="8210550" y="4933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C4C8731-A26D-4C11-89ED-D2D4B8533E6A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83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exclusivo del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563853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FBC6BBD-99AB-42AF-A608-C0E79935D7C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381A21-53CA-4563-8562-9AD004D7814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Modelo de calidad aplicado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54920F-DC5B-4F3C-A7AD-D0D1DFB74019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1779968-5670-4A59-A441-510A9273AE17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09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1C6DC6-B252-4DE7-A68B-FA73486642E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ISO 9126 / familia ISO 25000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8D3F574-B97A-4155-B258-A2FE78126276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5238750" cy="914400"/>
          </a:xfrm>
          <a:prstGeom prst="roundRect">
            <a:avLst>
              <a:gd name="adj" fmla="val 125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92493C-FE48-4DD8-98F2-6DB6761F48DD}"/>
              </a:ext>
            </a:extLst>
          </p:cNvPr>
          <p:cNvSpPr>
            <a:spLocks noGrp="1"/>
          </p:cNvSpPr>
          <p:nvPr/>
        </p:nvSpPr>
        <p:spPr>
          <a:xfrm>
            <a:off x="838200" y="23622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Funcionalidad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07B8ACB-2C61-463E-818D-D6467FB96FC8}"/>
              </a:ext>
            </a:extLst>
          </p:cNvPr>
          <p:cNvSpPr>
            <a:spLocks noGrp="1"/>
          </p:cNvSpPr>
          <p:nvPr/>
        </p:nvSpPr>
        <p:spPr>
          <a:xfrm>
            <a:off x="2705100" y="23526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Flujos críticos y reglas del negocio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249F033-EFBF-4D18-A8BF-FB618DE3C994}"/>
              </a:ext>
            </a:extLst>
          </p:cNvPr>
          <p:cNvSpPr>
            <a:spLocks noGrp="1"/>
          </p:cNvSpPr>
          <p:nvPr/>
        </p:nvSpPr>
        <p:spPr>
          <a:xfrm>
            <a:off x="6134100" y="2190750"/>
            <a:ext cx="5238750" cy="914400"/>
          </a:xfrm>
          <a:prstGeom prst="roundRect">
            <a:avLst>
              <a:gd name="adj" fmla="val 125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4EBB55F-C86C-494E-802C-1FE4A3C035B1}"/>
              </a:ext>
            </a:extLst>
          </p:cNvPr>
          <p:cNvSpPr>
            <a:spLocks noGrp="1"/>
          </p:cNvSpPr>
          <p:nvPr/>
        </p:nvSpPr>
        <p:spPr>
          <a:xfrm>
            <a:off x="6362700" y="23622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Usabilidad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688F3D-DA81-48F0-A2A4-C175D997373A}"/>
              </a:ext>
            </a:extLst>
          </p:cNvPr>
          <p:cNvSpPr>
            <a:spLocks noGrp="1"/>
          </p:cNvSpPr>
          <p:nvPr/>
        </p:nvSpPr>
        <p:spPr>
          <a:xfrm>
            <a:off x="8229600" y="23526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Responsive, mensajes y ayuda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459301B-A347-4A24-9A1B-6D2349280A99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5238750" cy="914400"/>
          </a:xfrm>
          <a:prstGeom prst="roundRect">
            <a:avLst>
              <a:gd name="adj" fmla="val 125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AF059EE-0142-4052-8A95-072E61650EA7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Fiabilidad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C9B1DC-9912-4E7F-9E35-756D359CEDCF}"/>
              </a:ext>
            </a:extLst>
          </p:cNvPr>
          <p:cNvSpPr>
            <a:spLocks noGrp="1"/>
          </p:cNvSpPr>
          <p:nvPr/>
        </p:nvSpPr>
        <p:spPr>
          <a:xfrm>
            <a:off x="2705100" y="351472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Persistencia y validaciones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69BDC37-B776-4492-A869-96AABD57E8D3}"/>
              </a:ext>
            </a:extLst>
          </p:cNvPr>
          <p:cNvSpPr>
            <a:spLocks noGrp="1"/>
          </p:cNvSpPr>
          <p:nvPr/>
        </p:nvSpPr>
        <p:spPr>
          <a:xfrm>
            <a:off x="6134100" y="3352800"/>
            <a:ext cx="5238750" cy="914400"/>
          </a:xfrm>
          <a:prstGeom prst="roundRect">
            <a:avLst>
              <a:gd name="adj" fmla="val 125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99F7F2-7504-43A9-AE19-29952941CF07}"/>
              </a:ext>
            </a:extLst>
          </p:cNvPr>
          <p:cNvSpPr>
            <a:spLocks noGrp="1"/>
          </p:cNvSpPr>
          <p:nvPr/>
        </p:nvSpPr>
        <p:spPr>
          <a:xfrm>
            <a:off x="6362700" y="3524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Eficiencia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BBEEEEE-18DD-4334-9FEC-411A5FF5A973}"/>
              </a:ext>
            </a:extLst>
          </p:cNvPr>
          <p:cNvSpPr>
            <a:spLocks noGrp="1"/>
          </p:cNvSpPr>
          <p:nvPr/>
        </p:nvSpPr>
        <p:spPr>
          <a:xfrm>
            <a:off x="8229600" y="351472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Respuesta inmediata y build optimizado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6AD26F8-4C58-4A28-898D-7A6217D01CE2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5238750" cy="914400"/>
          </a:xfrm>
          <a:prstGeom prst="roundRect">
            <a:avLst>
              <a:gd name="adj" fmla="val 125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F58E86F-00D4-4B32-841B-2DA127A1F4F0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Mantenibilidad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053DA31-2351-41A4-A5BE-6E135B05EB0D}"/>
              </a:ext>
            </a:extLst>
          </p:cNvPr>
          <p:cNvSpPr>
            <a:spLocks noGrp="1"/>
          </p:cNvSpPr>
          <p:nvPr/>
        </p:nvSpPr>
        <p:spPr>
          <a:xfrm>
            <a:off x="2705100" y="46767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React, componentes y TypeScript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A22FC77-EA8B-49B0-8FE3-BA10183AECC4}"/>
              </a:ext>
            </a:extLst>
          </p:cNvPr>
          <p:cNvSpPr>
            <a:spLocks noGrp="1"/>
          </p:cNvSpPr>
          <p:nvPr/>
        </p:nvSpPr>
        <p:spPr>
          <a:xfrm>
            <a:off x="6134100" y="4514850"/>
            <a:ext cx="5238750" cy="914400"/>
          </a:xfrm>
          <a:prstGeom prst="roundRect">
            <a:avLst>
              <a:gd name="adj" fmla="val 125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7B8210D-C290-4281-ABBD-9095F9536E61}"/>
              </a:ext>
            </a:extLst>
          </p:cNvPr>
          <p:cNvSpPr>
            <a:spLocks noGrp="1"/>
          </p:cNvSpPr>
          <p:nvPr/>
        </p:nvSpPr>
        <p:spPr>
          <a:xfrm>
            <a:off x="6362700" y="4686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Portabilidad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0144E77-9154-44D1-A324-189E43525D22}"/>
              </a:ext>
            </a:extLst>
          </p:cNvPr>
          <p:cNvSpPr>
            <a:spLocks noGrp="1"/>
          </p:cNvSpPr>
          <p:nvPr/>
        </p:nvSpPr>
        <p:spPr>
          <a:xfrm>
            <a:off x="8229600" y="46767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Aplicación web multiplataforma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2DA088F-1400-4CF7-A77F-98A0BCB64C0A}"/>
              </a:ext>
            </a:extLst>
          </p:cNvPr>
          <p:cNvSpPr>
            <a:spLocks noGrp="1"/>
          </p:cNvSpPr>
          <p:nvPr/>
        </p:nvSpPr>
        <p:spPr>
          <a:xfrm>
            <a:off x="1238250" y="5953125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Calidad observable: cada atributo se vincula a una función o evidencia ejecutable.</a:t>
            </a:r>
          </a:p>
        </p:txBody>
      </p:sp>
    </p:spTree>
    <p:extLst>
      <p:ext uri="{BB962C8B-B14F-4D97-AF65-F5344CB8AC3E}">
        <p14:creationId xmlns:p14="http://schemas.microsoft.com/office/powerpoint/2010/main" val="1714307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52979B5-AA66-458E-BA9B-BE768597AA5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939107-392B-45F7-BAA6-2C54A827C15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Plan de pruebas y resultados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450FB6C-ABBE-4C1E-A9B5-5AF65FD0B7CF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6A0568C-ED7A-4DCE-8DA1-FC025754E2A7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10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93EF4AB-B869-48DE-A18F-1CE864D215A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457450" cy="1524000"/>
          </a:xfrm>
          <a:prstGeom prst="roundRect">
            <a:avLst>
              <a:gd name="adj" fmla="val 100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A54DD49-7AB1-4171-A251-5BCA8C2A2D04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>
                <a:solidFill>
                  <a:srgbClr val="22D3EE"/>
                </a:solidFill>
              </a:defRPr>
            </a:pPr>
            <a:r>
              <a:rPr sz="4050" b="1">
                <a:solidFill>
                  <a:srgbClr val="22D3EE"/>
                </a:solidFill>
              </a:rPr>
              <a:t>18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F47B8F-9CD4-4742-B605-A2BDF7E179EC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planificados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1101E78-5681-4663-B3D2-A385191BF02D}"/>
              </a:ext>
            </a:extLst>
          </p:cNvPr>
          <p:cNvSpPr>
            <a:spLocks noGrp="1"/>
          </p:cNvSpPr>
          <p:nvPr/>
        </p:nvSpPr>
        <p:spPr>
          <a:xfrm>
            <a:off x="3352800" y="1714500"/>
            <a:ext cx="2457450" cy="1524000"/>
          </a:xfrm>
          <a:prstGeom prst="roundRect">
            <a:avLst>
              <a:gd name="adj" fmla="val 100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8B2D2D9-1FFF-45BB-AC71-64450E36ECC0}"/>
              </a:ext>
            </a:extLst>
          </p:cNvPr>
          <p:cNvSpPr>
            <a:spLocks noGrp="1"/>
          </p:cNvSpPr>
          <p:nvPr/>
        </p:nvSpPr>
        <p:spPr>
          <a:xfrm>
            <a:off x="3543300" y="1952625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>
                <a:solidFill>
                  <a:srgbClr val="38BDF8"/>
                </a:solidFill>
              </a:defRPr>
            </a:pPr>
            <a:r>
              <a:rPr sz="4050" b="1">
                <a:solidFill>
                  <a:srgbClr val="38BDF8"/>
                </a:solidFill>
              </a:rPr>
              <a:t>18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7AFE1DB-9CB7-4694-95A3-E08736758B31}"/>
              </a:ext>
            </a:extLst>
          </p:cNvPr>
          <p:cNvSpPr>
            <a:spLocks noGrp="1"/>
          </p:cNvSpPr>
          <p:nvPr/>
        </p:nvSpPr>
        <p:spPr>
          <a:xfrm>
            <a:off x="3543300" y="26860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ejecutados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73CBC4A-F8BB-45A4-A848-61EF49CF85DB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2457450" cy="1524000"/>
          </a:xfrm>
          <a:prstGeom prst="roundRect">
            <a:avLst>
              <a:gd name="adj" fmla="val 100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F9F03B-642B-4DD2-9032-1C85567B5AA3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>
                <a:solidFill>
                  <a:srgbClr val="34D399"/>
                </a:solidFill>
              </a:defRPr>
            </a:pPr>
            <a:r>
              <a:rPr sz="4050" b="1">
                <a:solidFill>
                  <a:srgbClr val="34D399"/>
                </a:solidFill>
              </a:rPr>
              <a:t>18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572FC74-3C16-4780-B9AA-1D38E4CD95B6}"/>
              </a:ext>
            </a:extLst>
          </p:cNvPr>
          <p:cNvSpPr>
            <a:spLocks noGrp="1"/>
          </p:cNvSpPr>
          <p:nvPr/>
        </p:nvSpPr>
        <p:spPr>
          <a:xfrm>
            <a:off x="6286500" y="26860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aprobados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67E45C8-851B-4FA4-B07A-47F1FD73DBF3}"/>
              </a:ext>
            </a:extLst>
          </p:cNvPr>
          <p:cNvSpPr>
            <a:spLocks noGrp="1"/>
          </p:cNvSpPr>
          <p:nvPr/>
        </p:nvSpPr>
        <p:spPr>
          <a:xfrm>
            <a:off x="8839200" y="1714500"/>
            <a:ext cx="2457450" cy="1524000"/>
          </a:xfrm>
          <a:prstGeom prst="roundRect">
            <a:avLst>
              <a:gd name="adj" fmla="val 10000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A1DFD57-960F-48C9-8609-70B1347324AF}"/>
              </a:ext>
            </a:extLst>
          </p:cNvPr>
          <p:cNvSpPr>
            <a:spLocks noGrp="1"/>
          </p:cNvSpPr>
          <p:nvPr/>
        </p:nvSpPr>
        <p:spPr>
          <a:xfrm>
            <a:off x="9029700" y="1952625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>
                <a:solidFill>
                  <a:srgbClr val="FBBF24"/>
                </a:solidFill>
              </a:defRPr>
            </a:pPr>
            <a:r>
              <a:rPr sz="4050" b="1">
                <a:solidFill>
                  <a:srgbClr val="FBBF24"/>
                </a:solidFill>
              </a:rPr>
              <a:t>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43EFBCA-0A48-482B-9C83-F3854FEBDAEB}"/>
              </a:ext>
            </a:extLst>
          </p:cNvPr>
          <p:cNvSpPr>
            <a:spLocks noGrp="1"/>
          </p:cNvSpPr>
          <p:nvPr/>
        </p:nvSpPr>
        <p:spPr>
          <a:xfrm>
            <a:off x="9029700" y="26860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errores críticos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18992BB-5AB9-4CFD-8AA4-3968F56062DE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Cobertura prioritaria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E67D87-88A0-4982-BDD6-6219405BC1C9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D654DF3-C5F6-4461-BF94-F647017DC390}"/>
              </a:ext>
            </a:extLst>
          </p:cNvPr>
          <p:cNvSpPr>
            <a:spLocks noGrp="1"/>
          </p:cNvSpPr>
          <p:nvPr/>
        </p:nvSpPr>
        <p:spPr>
          <a:xfrm>
            <a:off x="819150" y="4238625"/>
            <a:ext cx="474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válido, inválido y control de roles.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2EB3085-D352-45DD-A0E5-A43E40CA1479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347C8F8-CAA8-467C-BF03-D88B3E307C82}"/>
              </a:ext>
            </a:extLst>
          </p:cNvPr>
          <p:cNvSpPr>
            <a:spLocks noGrp="1"/>
          </p:cNvSpPr>
          <p:nvPr/>
        </p:nvSpPr>
        <p:spPr>
          <a:xfrm>
            <a:off x="819150" y="4810125"/>
            <a:ext cx="474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QR, LPR, plazos e impresión dual.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122194C-424A-4DA9-969F-38555F30EE38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95EC495-518A-4A90-BA41-07BF8A9F3821}"/>
              </a:ext>
            </a:extLst>
          </p:cNvPr>
          <p:cNvSpPr>
            <a:spLocks noGrp="1"/>
          </p:cNvSpPr>
          <p:nvPr/>
        </p:nvSpPr>
        <p:spPr>
          <a:xfrm>
            <a:off x="819150" y="5381625"/>
            <a:ext cx="4743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Derivación SAG y autorización de menores.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86F6800-04B0-49AC-88E8-3163344410CB}"/>
              </a:ext>
            </a:extLst>
          </p:cNvPr>
          <p:cNvSpPr>
            <a:spLocks noGrp="1"/>
          </p:cNvSpPr>
          <p:nvPr/>
        </p:nvSpPr>
        <p:spPr>
          <a:xfrm>
            <a:off x="6477000" y="3810000"/>
            <a:ext cx="510540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8352977-E0F8-4AA4-B766-890B1E08B459}"/>
              </a:ext>
            </a:extLst>
          </p:cNvPr>
          <p:cNvSpPr>
            <a:spLocks noGrp="1"/>
          </p:cNvSpPr>
          <p:nvPr/>
        </p:nvSpPr>
        <p:spPr>
          <a:xfrm>
            <a:off x="6800850" y="40481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Verificación técnica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0210514-EDC3-415B-83B2-B9A5B88A3857}"/>
              </a:ext>
            </a:extLst>
          </p:cNvPr>
          <p:cNvSpPr>
            <a:spLocks noGrp="1"/>
          </p:cNvSpPr>
          <p:nvPr/>
        </p:nvSpPr>
        <p:spPr>
          <a:xfrm>
            <a:off x="6800850" y="4476750"/>
            <a:ext cx="4191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build</a:t>
            </a:r>
          </a:p>
          <a:p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lint</a:t>
            </a:r>
          </a:p>
          <a:p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errores de consola</a:t>
            </a:r>
          </a:p>
          <a:p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overflow en 390 px</a:t>
            </a:r>
          </a:p>
        </p:txBody>
      </p:sp>
    </p:spTree>
    <p:extLst>
      <p:ext uri="{BB962C8B-B14F-4D97-AF65-F5344CB8AC3E}">
        <p14:creationId xmlns:p14="http://schemas.microsoft.com/office/powerpoint/2010/main" val="1656201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FF660B2-F537-43A0-A7FE-8C1BAE5CCB4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4232F1-9805-4F44-874B-97E87DC9E97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de versiones y mejora continua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32C6A54-504F-4559-81DA-5F7D5658CCC0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6E62E1E-CE1E-4C35-883E-1D22F004AB6E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F7EBEF4-4EB1-450D-A010-2D2F6869AF28}"/>
              </a:ext>
            </a:extLst>
          </p:cNvPr>
          <p:cNvSpPr>
            <a:spLocks noGrp="1"/>
          </p:cNvSpPr>
          <p:nvPr/>
        </p:nvSpPr>
        <p:spPr>
          <a:xfrm>
            <a:off x="542925" y="1590675"/>
            <a:ext cx="7372350" cy="4419600"/>
          </a:xfrm>
          <a:prstGeom prst="roundRect">
            <a:avLst>
              <a:gd name="adj" fmla="val 3448"/>
            </a:avLst>
          </a:prstGeom>
          <a:solidFill>
            <a:srgbClr val="102E58"/>
          </a:solidFill>
          <a:ln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rcRect l="2500" r="2500"/>
          <a:stretch>
            <a:fillRect/>
          </a:stretch>
        </p:blipFill>
        <p:spPr>
          <a:xfrm>
            <a:off x="609600" y="1657350"/>
            <a:ext cx="7239000" cy="4286250"/>
          </a:xfrm>
          <a:prstGeom prst="round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D407B0F-9C1E-475E-A41C-30DD663F06D9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Evidencia disponible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FB6E8F4-67D5-41B6-B873-464B757438A0}"/>
              </a:ext>
            </a:extLst>
          </p:cNvPr>
          <p:cNvSpPr>
            <a:spLocks noGrp="1"/>
          </p:cNvSpPr>
          <p:nvPr/>
        </p:nvSpPr>
        <p:spPr>
          <a:xfrm>
            <a:off x="8286750" y="2457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1FAD324-C360-4E49-9C3A-2B95B83AAF65}"/>
              </a:ext>
            </a:extLst>
          </p:cNvPr>
          <p:cNvSpPr>
            <a:spLocks noGrp="1"/>
          </p:cNvSpPr>
          <p:nvPr/>
        </p:nvSpPr>
        <p:spPr>
          <a:xfrm>
            <a:off x="8496300" y="238125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Historial Git del proyecto.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A9CF50B-0869-4262-B74E-6F6521AD6FC3}"/>
              </a:ext>
            </a:extLst>
          </p:cNvPr>
          <p:cNvSpPr>
            <a:spLocks noGrp="1"/>
          </p:cNvSpPr>
          <p:nvPr/>
        </p:nvSpPr>
        <p:spPr>
          <a:xfrm>
            <a:off x="8286750" y="30765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123731-DA67-4383-84A7-24CB4BB28E08}"/>
              </a:ext>
            </a:extLst>
          </p:cNvPr>
          <p:cNvSpPr>
            <a:spLocks noGrp="1"/>
          </p:cNvSpPr>
          <p:nvPr/>
        </p:nvSpPr>
        <p:spPr>
          <a:xfrm>
            <a:off x="8496300" y="3000375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versiones documentadas.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8885918-74E6-4383-8814-55524B801638}"/>
              </a:ext>
            </a:extLst>
          </p:cNvPr>
          <p:cNvSpPr>
            <a:spLocks noGrp="1"/>
          </p:cNvSpPr>
          <p:nvPr/>
        </p:nvSpPr>
        <p:spPr>
          <a:xfrm>
            <a:off x="8286750" y="3695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BD5F4A6-7C23-43F2-A897-E0A8925759B5}"/>
              </a:ext>
            </a:extLst>
          </p:cNvPr>
          <p:cNvSpPr>
            <a:spLocks noGrp="1"/>
          </p:cNvSpPr>
          <p:nvPr/>
        </p:nvSpPr>
        <p:spPr>
          <a:xfrm>
            <a:off x="8496300" y="36195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Matriz requisito–prueba.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A274189-F29E-4918-BD5F-8C148C1A6BA8}"/>
              </a:ext>
            </a:extLst>
          </p:cNvPr>
          <p:cNvSpPr>
            <a:spLocks noGrp="1"/>
          </p:cNvSpPr>
          <p:nvPr/>
        </p:nvSpPr>
        <p:spPr>
          <a:xfrm>
            <a:off x="8286750" y="4314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F53F42E-B5F8-461F-83A6-71D3184897D6}"/>
              </a:ext>
            </a:extLst>
          </p:cNvPr>
          <p:cNvSpPr>
            <a:spLocks noGrp="1"/>
          </p:cNvSpPr>
          <p:nvPr/>
        </p:nvSpPr>
        <p:spPr>
          <a:xfrm>
            <a:off x="8496300" y="4238625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Planilla de control de cambios.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F2E4A223-CDA4-4797-A5E7-8E3A91C65402}"/>
              </a:ext>
            </a:extLst>
          </p:cNvPr>
          <p:cNvSpPr>
            <a:spLocks noGrp="1"/>
          </p:cNvSpPr>
          <p:nvPr/>
        </p:nvSpPr>
        <p:spPr>
          <a:xfrm>
            <a:off x="8286750" y="5095875"/>
            <a:ext cx="2952750" cy="685800"/>
          </a:xfrm>
          <a:prstGeom prst="roundRect">
            <a:avLst>
              <a:gd name="adj" fmla="val 16667"/>
            </a:avLst>
          </a:prstGeom>
          <a:solidFill>
            <a:srgbClr val="133B6C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C7D0505-2D05-43EC-881F-0490350E866F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Cada cambio responde</a:t>
            </a:r>
          </a:p>
          <a:p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a un riesgo o requisito</a:t>
            </a:r>
          </a:p>
        </p:txBody>
      </p:sp>
    </p:spTree>
    <p:extLst>
      <p:ext uri="{BB962C8B-B14F-4D97-AF65-F5344CB8AC3E}">
        <p14:creationId xmlns:p14="http://schemas.microsoft.com/office/powerpoint/2010/main" val="138131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8823F7BE-9A5A-47E4-B0DE-666828F1DA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4291236-6BD2-4B90-9504-1925BD0AD30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Recorrido recomendado para la demostración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CF7DB7A-F54F-43AB-A108-47C3B96E2243}"/>
              </a:ext>
            </a:extLst>
          </p:cNvPr>
          <p:cNvSpPr>
            <a:spLocks noGrp="1"/>
          </p:cNvSpPr>
          <p:nvPr/>
        </p:nvSpPr>
        <p:spPr>
          <a:xfrm>
            <a:off x="609600" y="1285875"/>
            <a:ext cx="914400" cy="381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C68E89-AA64-47E3-A0BC-E1E0485BE0DC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12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D98F4A1-AA67-47F3-ADAE-0BBF3740D9A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371850" cy="1476375"/>
          </a:xfrm>
          <a:prstGeom prst="roundRect">
            <a:avLst>
              <a:gd name="adj" fmla="val 1032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BFCAB4C-CCEB-4E26-A20F-9F7A36596568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637960C-44D1-4B41-B409-5BDB5BFBCE33}"/>
              </a:ext>
            </a:extLst>
          </p:cNvPr>
          <p:cNvSpPr>
            <a:spLocks noGrp="1"/>
          </p:cNvSpPr>
          <p:nvPr/>
        </p:nvSpPr>
        <p:spPr>
          <a:xfrm>
            <a:off x="800100" y="21621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2C820A-940E-4E9F-81C2-385BF5582C90}"/>
              </a:ext>
            </a:extLst>
          </p:cNvPr>
          <p:cNvSpPr>
            <a:spLocks noGrp="1"/>
          </p:cNvSpPr>
          <p:nvPr/>
        </p:nvSpPr>
        <p:spPr>
          <a:xfrm>
            <a:off x="1504950" y="20574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Acceso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22E483B-3C54-48C5-B39E-42AC0F6203F8}"/>
              </a:ext>
            </a:extLst>
          </p:cNvPr>
          <p:cNvSpPr>
            <a:spLocks noGrp="1"/>
          </p:cNvSpPr>
          <p:nvPr/>
        </p:nvSpPr>
        <p:spPr>
          <a:xfrm>
            <a:off x="1504950" y="24574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Ingresar como funcionario.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2E296A9-B110-4553-ACDF-EC98E7AF840D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371850" cy="1476375"/>
          </a:xfrm>
          <a:prstGeom prst="roundRect">
            <a:avLst>
              <a:gd name="adj" fmla="val 1032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2C37973-9729-45B4-A0DC-F6E00C75D30F}"/>
              </a:ext>
            </a:extLst>
          </p:cNvPr>
          <p:cNvSpPr>
            <a:spLocks noGrp="1"/>
          </p:cNvSpPr>
          <p:nvPr/>
        </p:nvSpPr>
        <p:spPr>
          <a:xfrm>
            <a:off x="4457700" y="204787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D54D5F-E67D-45E5-830D-2B599E7EC9D2}"/>
              </a:ext>
            </a:extLst>
          </p:cNvPr>
          <p:cNvSpPr>
            <a:spLocks noGrp="1"/>
          </p:cNvSpPr>
          <p:nvPr/>
        </p:nvSpPr>
        <p:spPr>
          <a:xfrm>
            <a:off x="4457700" y="21621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89745EF-746C-4BD9-8FA5-8DD11BB944AD}"/>
              </a:ext>
            </a:extLst>
          </p:cNvPr>
          <p:cNvSpPr>
            <a:spLocks noGrp="1"/>
          </p:cNvSpPr>
          <p:nvPr/>
        </p:nvSpPr>
        <p:spPr>
          <a:xfrm>
            <a:off x="5162550" y="20574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7168BAC-96A4-48B6-A9A4-189B7FF7A1C4}"/>
              </a:ext>
            </a:extLst>
          </p:cNvPr>
          <p:cNvSpPr>
            <a:spLocks noGrp="1"/>
          </p:cNvSpPr>
          <p:nvPr/>
        </p:nvSpPr>
        <p:spPr>
          <a:xfrm>
            <a:off x="5162550" y="24574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Simular QR/LPR y emitir permiso.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46BA245-D4CA-4AD7-8C6A-488B15E0DDCC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371850" cy="1476375"/>
          </a:xfrm>
          <a:prstGeom prst="roundRect">
            <a:avLst>
              <a:gd name="adj" fmla="val 1032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BAEA4B0-3387-4A0D-AF5A-F7ED2F2FB480}"/>
              </a:ext>
            </a:extLst>
          </p:cNvPr>
          <p:cNvSpPr>
            <a:spLocks noGrp="1"/>
          </p:cNvSpPr>
          <p:nvPr/>
        </p:nvSpPr>
        <p:spPr>
          <a:xfrm>
            <a:off x="8115300" y="204787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E78A46C-66A8-4CFA-9470-E664F0614F50}"/>
              </a:ext>
            </a:extLst>
          </p:cNvPr>
          <p:cNvSpPr>
            <a:spLocks noGrp="1"/>
          </p:cNvSpPr>
          <p:nvPr/>
        </p:nvSpPr>
        <p:spPr>
          <a:xfrm>
            <a:off x="8115300" y="21621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6F80794-B487-478F-9104-28B16BF48CD8}"/>
              </a:ext>
            </a:extLst>
          </p:cNvPr>
          <p:cNvSpPr>
            <a:spLocks noGrp="1"/>
          </p:cNvSpPr>
          <p:nvPr/>
        </p:nvSpPr>
        <p:spPr>
          <a:xfrm>
            <a:off x="8820150" y="20574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CD29ACE-EE0F-4779-98F2-49B6E70EE2B8}"/>
              </a:ext>
            </a:extLst>
          </p:cNvPr>
          <p:cNvSpPr>
            <a:spLocks noGrp="1"/>
          </p:cNvSpPr>
          <p:nvPr/>
        </p:nvSpPr>
        <p:spPr>
          <a:xfrm>
            <a:off x="8820150" y="24574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Declarar alimentos y derivar.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FC73CC8-E99A-4D55-AC5B-56523C430DA9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3371850" cy="1476375"/>
          </a:xfrm>
          <a:prstGeom prst="roundRect">
            <a:avLst>
              <a:gd name="adj" fmla="val 1032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25A45D4-2072-41E2-AD7A-C6D4B4DE40C0}"/>
              </a:ext>
            </a:extLst>
          </p:cNvPr>
          <p:cNvSpPr>
            <a:spLocks noGrp="1"/>
          </p:cNvSpPr>
          <p:nvPr/>
        </p:nvSpPr>
        <p:spPr>
          <a:xfrm>
            <a:off x="800100" y="3857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3959E72-8DDF-4D00-9E82-99FBF6F8BE62}"/>
              </a:ext>
            </a:extLst>
          </p:cNvPr>
          <p:cNvSpPr>
            <a:spLocks noGrp="1"/>
          </p:cNvSpPr>
          <p:nvPr/>
        </p:nvSpPr>
        <p:spPr>
          <a:xfrm>
            <a:off x="800100" y="39719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06552AA-5A74-4C1D-8A69-CA7A4BEDA61D}"/>
              </a:ext>
            </a:extLst>
          </p:cNvPr>
          <p:cNvSpPr>
            <a:spLocks noGrp="1"/>
          </p:cNvSpPr>
          <p:nvPr/>
        </p:nvSpPr>
        <p:spPr>
          <a:xfrm>
            <a:off x="1504950" y="38671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Tótem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BB3F70F-2DA6-4753-9EFE-412A57D9EB61}"/>
              </a:ext>
            </a:extLst>
          </p:cNvPr>
          <p:cNvSpPr>
            <a:spLocks noGrp="1"/>
          </p:cNvSpPr>
          <p:nvPr/>
        </p:nvSpPr>
        <p:spPr>
          <a:xfrm>
            <a:off x="1504950" y="42672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Registrar menor sin autorización.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22BBB5A-1AEA-4A17-BDBF-303557A9754E}"/>
              </a:ext>
            </a:extLst>
          </p:cNvPr>
          <p:cNvSpPr>
            <a:spLocks noGrp="1"/>
          </p:cNvSpPr>
          <p:nvPr/>
        </p:nvSpPr>
        <p:spPr>
          <a:xfrm>
            <a:off x="4267200" y="3619500"/>
            <a:ext cx="3371850" cy="1476375"/>
          </a:xfrm>
          <a:prstGeom prst="roundRect">
            <a:avLst>
              <a:gd name="adj" fmla="val 1032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36ADE43-2749-42C1-B2B1-351330BFDEEE}"/>
              </a:ext>
            </a:extLst>
          </p:cNvPr>
          <p:cNvSpPr>
            <a:spLocks noGrp="1"/>
          </p:cNvSpPr>
          <p:nvPr/>
        </p:nvSpPr>
        <p:spPr>
          <a:xfrm>
            <a:off x="4457700" y="3857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F3FAEEC-07E0-4778-AC6E-8FD3C7E759EE}"/>
              </a:ext>
            </a:extLst>
          </p:cNvPr>
          <p:cNvSpPr>
            <a:spLocks noGrp="1"/>
          </p:cNvSpPr>
          <p:nvPr/>
        </p:nvSpPr>
        <p:spPr>
          <a:xfrm>
            <a:off x="4457700" y="39719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9796DF4-AD5A-4891-80B9-5172978C5ACF}"/>
              </a:ext>
            </a:extLst>
          </p:cNvPr>
          <p:cNvSpPr>
            <a:spLocks noGrp="1"/>
          </p:cNvSpPr>
          <p:nvPr/>
        </p:nvSpPr>
        <p:spPr>
          <a:xfrm>
            <a:off x="5162550" y="38671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Reportes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B66F4B9-D01F-45B9-85E0-E77AB2CC8FF6}"/>
              </a:ext>
            </a:extLst>
          </p:cNvPr>
          <p:cNvSpPr>
            <a:spLocks noGrp="1"/>
          </p:cNvSpPr>
          <p:nvPr/>
        </p:nvSpPr>
        <p:spPr>
          <a:xfrm>
            <a:off x="5162550" y="42672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Mostrar indicadores y CSV.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20146C30-B8E8-4F5C-A840-83A96B748BF2}"/>
              </a:ext>
            </a:extLst>
          </p:cNvPr>
          <p:cNvSpPr>
            <a:spLocks noGrp="1"/>
          </p:cNvSpPr>
          <p:nvPr/>
        </p:nvSpPr>
        <p:spPr>
          <a:xfrm>
            <a:off x="7924800" y="3619500"/>
            <a:ext cx="3371850" cy="1476375"/>
          </a:xfrm>
          <a:prstGeom prst="roundRect">
            <a:avLst>
              <a:gd name="adj" fmla="val 10323"/>
            </a:avLst>
          </a:prstGeom>
          <a:solidFill>
            <a:srgbClr val="102A50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9EF87888-2335-47C2-A254-8F44C15327BB}"/>
              </a:ext>
            </a:extLst>
          </p:cNvPr>
          <p:cNvSpPr>
            <a:spLocks noGrp="1"/>
          </p:cNvSpPr>
          <p:nvPr/>
        </p:nvSpPr>
        <p:spPr>
          <a:xfrm>
            <a:off x="8115300" y="38576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0">
            <a:noFill/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1FEF80F-68D8-40CF-AD38-A465FED75E43}"/>
              </a:ext>
            </a:extLst>
          </p:cNvPr>
          <p:cNvSpPr>
            <a:spLocks noGrp="1"/>
          </p:cNvSpPr>
          <p:nvPr/>
        </p:nvSpPr>
        <p:spPr>
          <a:xfrm>
            <a:off x="8115300" y="397192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865AA19-44E8-4023-B8DC-DB7265A6D332}"/>
              </a:ext>
            </a:extLst>
          </p:cNvPr>
          <p:cNvSpPr>
            <a:spLocks noGrp="1"/>
          </p:cNvSpPr>
          <p:nvPr/>
        </p:nvSpPr>
        <p:spPr>
          <a:xfrm>
            <a:off x="8820150" y="38671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B7F03CB-5BAF-4605-8AB6-7B7063C8017A}"/>
              </a:ext>
            </a:extLst>
          </p:cNvPr>
          <p:cNvSpPr>
            <a:spLocks noGrp="1"/>
          </p:cNvSpPr>
          <p:nvPr/>
        </p:nvSpPr>
        <p:spPr>
          <a:xfrm>
            <a:off x="8820150" y="42672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Revisar auditoría completa.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790587C-F72F-4F18-9931-7CD693E7756D}"/>
              </a:ext>
            </a:extLst>
          </p:cNvPr>
          <p:cNvSpPr>
            <a:spLocks noGrp="1"/>
          </p:cNvSpPr>
          <p:nvPr/>
        </p:nvSpPr>
        <p:spPr>
          <a:xfrm>
            <a:off x="3619500" y="58102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Duración sugerida: 6–8 minutos</a:t>
            </a:r>
          </a:p>
        </p:txBody>
      </p:sp>
    </p:spTree>
    <p:extLst>
      <p:ext uri="{BB962C8B-B14F-4D97-AF65-F5344CB8AC3E}">
        <p14:creationId xmlns:p14="http://schemas.microsoft.com/office/powerpoint/2010/main" val="911673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CA3ACD58-F871-40B5-8BF1-04A988C1C56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DE3957B-AF0B-4B53-84D3-F1620D3F44B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429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DCEBFF"/>
                </a:solidFill>
              </a:defRPr>
            </a:pPr>
            <a:r>
              <a:rPr sz="2250" b="1">
                <a:solidFill>
                  <a:srgbClr val="DCEBFF"/>
                </a:solidFill>
              </a:rPr>
              <a:t>SIGA evolucionó desde un acceso mínimo hasta un prototipo funcional, trazable y respaldado por pruebas.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6D78EC7-B416-4179-8100-9294078A977B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51443B9-7DE2-472B-8CB2-F6030A644216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664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Requisitos funcionales implementados o simulados.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CDFD784-3822-4BA8-9C00-88DDA4C2C8B4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B65BF8A-15DF-42D3-8BE4-49056755B4F6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664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Reglas fronterizas críticas visibles y comprobables.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CA9B7C7-81EC-46B5-A195-7EAD2203E74B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41A150-86C5-42AE-AC1C-07389DB7C831}"/>
              </a:ext>
            </a:extLst>
          </p:cNvPr>
          <p:cNvSpPr>
            <a:spLocks noGrp="1"/>
          </p:cNvSpPr>
          <p:nvPr/>
        </p:nvSpPr>
        <p:spPr>
          <a:xfrm>
            <a:off x="895350" y="4438650"/>
            <a:ext cx="664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Calidad vinculada a evidencias concretas.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586C72C-5ECA-4147-AC8D-BFF26DABC248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4DDB1D0-A181-42A6-B331-C594C367C94E}"/>
              </a:ext>
            </a:extLst>
          </p:cNvPr>
          <p:cNvSpPr>
            <a:spLocks noGrp="1"/>
          </p:cNvSpPr>
          <p:nvPr/>
        </p:nvSpPr>
        <p:spPr>
          <a:xfrm>
            <a:off x="895350" y="4991100"/>
            <a:ext cx="6648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iteraciones documentadas para mejora continua.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628E9D5-4A6B-41F5-BE55-F67D535CB3F4}"/>
              </a:ext>
            </a:extLst>
          </p:cNvPr>
          <p:cNvSpPr>
            <a:spLocks noGrp="1"/>
          </p:cNvSpPr>
          <p:nvPr/>
        </p:nvSpPr>
        <p:spPr>
          <a:xfrm>
            <a:off x="8572500" y="1333500"/>
            <a:ext cx="2762250" cy="3714750"/>
          </a:xfrm>
          <a:prstGeom prst="roundRect">
            <a:avLst>
              <a:gd name="adj" fmla="val 5517"/>
            </a:avLst>
          </a:prstGeom>
          <a:solidFill>
            <a:srgbClr val="0B2B58"/>
          </a:solidFill>
          <a:ln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287B92-D4E4-4A8D-9529-849C3EA246CB}"/>
              </a:ext>
            </a:extLst>
          </p:cNvPr>
          <p:cNvSpPr>
            <a:spLocks noGrp="1"/>
          </p:cNvSpPr>
          <p:nvPr/>
        </p:nvSpPr>
        <p:spPr>
          <a:xfrm>
            <a:off x="8810625" y="217170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22D3EE"/>
                </a:solidFill>
              </a:defRPr>
            </a:pPr>
            <a:r>
              <a:rPr sz="2550" b="1">
                <a:solidFill>
                  <a:srgbClr val="22D3EE"/>
                </a:solidFill>
              </a:rPr>
              <a:t>LISTO PARA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C867C50-6AEF-49FE-BA3E-0085A30C0E41}"/>
              </a:ext>
            </a:extLst>
          </p:cNvPr>
          <p:cNvSpPr>
            <a:spLocks noGrp="1"/>
          </p:cNvSpPr>
          <p:nvPr/>
        </p:nvSpPr>
        <p:spPr>
          <a:xfrm>
            <a:off x="8686800" y="2686050"/>
            <a:ext cx="2533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DEMOSTRACIÓN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777509-8652-458F-9FDC-2A3AFB7E9075}"/>
              </a:ext>
            </a:extLst>
          </p:cNvPr>
          <p:cNvSpPr>
            <a:spLocks noGrp="1"/>
          </p:cNvSpPr>
          <p:nvPr/>
        </p:nvSpPr>
        <p:spPr>
          <a:xfrm>
            <a:off x="8905875" y="3667125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Build ✓</a:t>
            </a:r>
          </a:p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Lint ✓</a:t>
            </a:r>
          </a:p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Pruebas ✓</a:t>
            </a:r>
          </a:p>
          <a:p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Documentación ✓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0F8014B-0D5E-49C1-9379-9737163D030E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AFC7E8"/>
                </a:solidFill>
              </a:defRPr>
            </a:pPr>
            <a:r>
              <a:rPr sz="1725" b="0">
                <a:solidFill>
                  <a:srgbClr val="AFC7E8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1212608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Microsoft Office PowerPoint</Application>
  <DocSecurity>0</DocSecurity>
  <PresentationFormat>Panorámica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Fernando Villalobos Viveros</cp:lastModifiedBy>
  <cp:revision>1</cp:revision>
  <dcterms:created xsi:type="dcterms:W3CDTF">2026-06-26T12:45:11Z</dcterms:created>
  <dcterms:modified xsi:type="dcterms:W3CDTF">2026-06-26T12:58:18Z</dcterms:modified>
</cp:coreProperties>
</file>